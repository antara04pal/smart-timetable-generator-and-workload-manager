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3" r:id="rId1"/>
  </p:sldMasterIdLst>
  <p:notesMasterIdLst>
    <p:notesMasterId r:id="rId14"/>
  </p:notesMasterIdLst>
  <p:sldIdLst>
    <p:sldId id="256" r:id="rId2"/>
    <p:sldId id="26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86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BA057E-AEDA-459E-ABE9-F7FF23113E78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BBA243-5085-42EF-89DB-382E9752004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6028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A243-5085-42EF-89DB-382E9752004A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8989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29679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789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239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27575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06710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8361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131684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51598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82976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3632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2366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E2865CF2-AF1E-46DA-BC56-7C6812EFC0CE}" type="datetimeFigureOut">
              <a:rPr lang="en-IN" smtClean="0"/>
              <a:t>20-05-2026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A1ECFFA5-839B-447D-9427-8840412ED7AD}" type="slidenum">
              <a:rPr lang="en-IN" smtClean="0"/>
              <a:t>‹#›</a:t>
            </a:fld>
            <a:endParaRPr lang="en-IN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94912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4" r:id="rId1"/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6FFB6-2B39-EA86-70F3-7C1496F748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2418002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Smart Timetable Generator</a:t>
            </a:r>
            <a:br>
              <a:rPr lang="en-IN" dirty="0">
                <a:effectLst/>
              </a:rPr>
            </a:br>
            <a:r>
              <a:rPr lang="en-US" b="1" dirty="0"/>
              <a:t>&amp; Workload Manager</a:t>
            </a:r>
            <a:br>
              <a:rPr lang="en-IN" dirty="0">
                <a:effectLst/>
              </a:rPr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7870BE-DFFF-BCB9-2831-7512259A03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i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Excel-Based Academic Scheduling &amp; Faculty Workload Management System</a:t>
            </a:r>
            <a:endParaRPr lang="en-US" dirty="0">
              <a:solidFill>
                <a:srgbClr val="002060"/>
              </a:solidFill>
            </a:endParaRPr>
          </a:p>
          <a:p>
            <a:r>
              <a:rPr lang="en-IN" dirty="0"/>
              <a:t>9 sheets | 100+ records | Macros | Pivot tables | Dashboard | Data Cleaning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CFD1A5-B9BA-4293-B955-B6F575174ADF}"/>
              </a:ext>
            </a:extLst>
          </p:cNvPr>
          <p:cNvSpPr txBox="1"/>
          <p:nvPr/>
        </p:nvSpPr>
        <p:spPr>
          <a:xfrm>
            <a:off x="1266092" y="2508738"/>
            <a:ext cx="9741877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rgbClr val="7030A0"/>
                </a:solidFill>
              </a:rPr>
              <a:t>Presented by: </a:t>
            </a:r>
          </a:p>
          <a:p>
            <a:r>
              <a:rPr lang="en-US" dirty="0"/>
              <a:t>Antara Pal</a:t>
            </a:r>
          </a:p>
          <a:p>
            <a:r>
              <a:rPr lang="en-US" dirty="0"/>
              <a:t>Sayar Sekhar Ghosh</a:t>
            </a:r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088061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EFB2D-056A-3CBC-38C9-C91239C11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738553"/>
            <a:ext cx="10058400" cy="905022"/>
          </a:xfrm>
        </p:spPr>
        <p:txBody>
          <a:bodyPr/>
          <a:lstStyle/>
          <a:p>
            <a:pPr algn="ctr"/>
            <a:r>
              <a:rPr lang="en-IN" b="1" dirty="0"/>
              <a:t>Project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FF9E48-C62D-1648-620B-064AC7213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3"/>
            <a:ext cx="10058400" cy="4023360"/>
          </a:xfrm>
        </p:spPr>
        <p:txBody>
          <a:bodyPr>
            <a:noAutofit/>
          </a:bodyPr>
          <a:lstStyle/>
          <a:p>
            <a:r>
              <a:rPr lang="en-IN" sz="2200" dirty="0"/>
              <a:t> </a:t>
            </a:r>
            <a:r>
              <a:rPr lang="en-IN" sz="2200" b="1" u="sng" dirty="0">
                <a:solidFill>
                  <a:srgbClr val="002060"/>
                </a:solidFill>
              </a:rPr>
              <a:t>9-Sheet Workbook Text</a:t>
            </a:r>
            <a:r>
              <a:rPr lang="en-IN" sz="2200" dirty="0"/>
              <a:t>: Index, Data Cleaning, Raw Data (x2), Clean Data (x2), Pivots (x2), Dashboard</a:t>
            </a:r>
          </a:p>
          <a:p>
            <a:r>
              <a:rPr lang="en-IN" sz="2200" b="1" u="sng" dirty="0">
                <a:solidFill>
                  <a:srgbClr val="002060"/>
                </a:solidFill>
              </a:rPr>
              <a:t>Data Cleaning Text</a:t>
            </a:r>
            <a:r>
              <a:rPr lang="en-IN" sz="2200" dirty="0"/>
              <a:t>: Missing value imputation + duplicate removal in both datasets</a:t>
            </a:r>
          </a:p>
          <a:p>
            <a:r>
              <a:rPr lang="en-IN" sz="2200" b="1" u="sng" dirty="0">
                <a:solidFill>
                  <a:srgbClr val="002060"/>
                </a:solidFill>
              </a:rPr>
              <a:t>Smart Formulas Text</a:t>
            </a:r>
            <a:r>
              <a:rPr lang="en-IN" sz="2200" dirty="0"/>
              <a:t>: (Subtext is too faint/low contrast to read clearly in the image)</a:t>
            </a:r>
          </a:p>
          <a:p>
            <a:r>
              <a:rPr lang="en-IN" sz="2200" b="1" u="sng" dirty="0">
                <a:solidFill>
                  <a:srgbClr val="002060"/>
                </a:solidFill>
              </a:rPr>
              <a:t>Data Validation Text</a:t>
            </a:r>
            <a:r>
              <a:rPr lang="en-IN" sz="2200" dirty="0"/>
              <a:t>: (Subtext is too faint/low contrast to read clearly in the image)</a:t>
            </a:r>
          </a:p>
          <a:p>
            <a:r>
              <a:rPr lang="en-IN" sz="2200" b="1" u="sng" dirty="0">
                <a:solidFill>
                  <a:srgbClr val="002060"/>
                </a:solidFill>
              </a:rPr>
              <a:t>Conditional Formatting Text</a:t>
            </a:r>
            <a:r>
              <a:rPr lang="en-IN" sz="2200" dirty="0"/>
              <a:t>: Color-coded workload status, conflicts, labs &amp; duplicates</a:t>
            </a:r>
          </a:p>
          <a:p>
            <a:r>
              <a:rPr lang="en-IN" sz="2200" b="1" u="sng" dirty="0">
                <a:solidFill>
                  <a:srgbClr val="002060"/>
                </a:solidFill>
              </a:rPr>
              <a:t>Macro Buttons Text</a:t>
            </a:r>
            <a:r>
              <a:rPr lang="en-IN" sz="2200" dirty="0"/>
              <a:t>: One-click automation for sort, filter, navigate &amp; export</a:t>
            </a:r>
          </a:p>
          <a:p>
            <a:r>
              <a:rPr lang="en-IN" sz="2200" b="1" u="sng" dirty="0">
                <a:solidFill>
                  <a:srgbClr val="002060"/>
                </a:solidFill>
              </a:rPr>
              <a:t>Pivot Tables &amp; Charts Text</a:t>
            </a:r>
            <a:r>
              <a:rPr lang="en-IN" sz="2200" dirty="0"/>
              <a:t>: Interactive analysis with slicers for Department, Semester, Status</a:t>
            </a:r>
          </a:p>
          <a:p>
            <a:r>
              <a:rPr lang="en-IN" sz="2200" b="1" u="sng" dirty="0">
                <a:solidFill>
                  <a:srgbClr val="002060"/>
                </a:solidFill>
              </a:rPr>
              <a:t>Dashboard Text</a:t>
            </a:r>
            <a:r>
              <a:rPr lang="en-IN" sz="2200" dirty="0"/>
              <a:t>: Live KPIs &amp; charts summarizing the entire timetable system</a:t>
            </a:r>
          </a:p>
        </p:txBody>
      </p:sp>
    </p:spTree>
    <p:extLst>
      <p:ext uri="{BB962C8B-B14F-4D97-AF65-F5344CB8AC3E}">
        <p14:creationId xmlns:p14="http://schemas.microsoft.com/office/powerpoint/2010/main" val="10792990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CA9A6-40A5-F5C1-D751-CB4200A33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Index Sheet – Navigation with Hyperlinks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00A93A-2664-E519-370F-CD7ACD64161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Aft>
                <a:spcPts val="500"/>
              </a:spcAft>
              <a:buSzPct val="100000"/>
              <a:buNone/>
            </a:pPr>
            <a:r>
              <a:rPr lang="en-IN" b="1" dirty="0"/>
              <a:t>Purpose &amp; Features</a:t>
            </a:r>
          </a:p>
          <a:p>
            <a:pPr>
              <a:spcAft>
                <a:spcPts val="5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Acts as the home page of the workbook.</a:t>
            </a:r>
            <a:endParaRPr lang="en-US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Contains clickable hyperlinks to all 8 other sheets.</a:t>
            </a:r>
            <a:endParaRPr lang="en-US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Each link uses Excel's Insert &gt; Hyperlink &gt; Place in This Document feature.</a:t>
            </a:r>
            <a:endParaRPr lang="en-US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Allows one-click navigation — no scrolling through tabs.</a:t>
            </a:r>
            <a:endParaRPr lang="en-US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Numbers 1–7 label each sheet link clearly.</a:t>
            </a:r>
            <a:endParaRPr lang="en-US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Improves usability for complex multi-sheet workbooks.</a:t>
            </a: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A653C852-9BBF-1D0C-7B8F-15D0E09C67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722464"/>
            <a:ext cx="5702710" cy="471802"/>
          </a:xfrm>
          <a:prstGeom prst="rect">
            <a:avLst/>
          </a:prstGeom>
          <a:solidFill>
            <a:srgbClr val="00206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800" dirty="0">
                <a:solidFill>
                  <a:schemeClr val="bg1"/>
                </a:solidFill>
              </a:rPr>
              <a:t>1. Raw Timetable Schedule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AFB19EF-A56C-2D39-E30E-5A7D57358EF1}"/>
              </a:ext>
            </a:extLst>
          </p:cNvPr>
          <p:cNvSpPr txBox="1">
            <a:spLocks/>
          </p:cNvSpPr>
          <p:nvPr/>
        </p:nvSpPr>
        <p:spPr>
          <a:xfrm>
            <a:off x="6170970" y="2343381"/>
            <a:ext cx="5702710" cy="471803"/>
          </a:xfrm>
          <a:prstGeom prst="rect">
            <a:avLst/>
          </a:prstGeom>
          <a:solidFill>
            <a:srgbClr val="00206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dirty="0">
                <a:solidFill>
                  <a:schemeClr val="bg1"/>
                </a:solidFill>
              </a:rPr>
              <a:t>2.Raw Faculty Workload</a:t>
            </a:r>
          </a:p>
        </p:txBody>
      </p:sp>
      <p:sp>
        <p:nvSpPr>
          <p:cNvPr id="7" name="Shape 6">
            <a:extLst>
              <a:ext uri="{FF2B5EF4-FFF2-40B4-BE49-F238E27FC236}">
                <a16:creationId xmlns:a16="http://schemas.microsoft.com/office/drawing/2014/main" id="{D7998905-1E83-1059-4B73-9B50E4CEF241}"/>
              </a:ext>
            </a:extLst>
          </p:cNvPr>
          <p:cNvSpPr txBox="1">
            <a:spLocks/>
          </p:cNvSpPr>
          <p:nvPr/>
        </p:nvSpPr>
        <p:spPr>
          <a:xfrm>
            <a:off x="6152535" y="2926432"/>
            <a:ext cx="5739581" cy="516582"/>
          </a:xfrm>
          <a:prstGeom prst="rect">
            <a:avLst/>
          </a:prstGeom>
          <a:solidFill>
            <a:srgbClr val="00206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</a:rPr>
              <a:t>3. Clean Timetable Schedule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68F7594C-A4F3-5D3D-040D-6F7E284AB249}"/>
              </a:ext>
            </a:extLst>
          </p:cNvPr>
          <p:cNvSpPr txBox="1">
            <a:spLocks/>
          </p:cNvSpPr>
          <p:nvPr/>
        </p:nvSpPr>
        <p:spPr>
          <a:xfrm>
            <a:off x="6152535" y="3609586"/>
            <a:ext cx="5739581" cy="464547"/>
          </a:xfrm>
          <a:prstGeom prst="rect">
            <a:avLst/>
          </a:prstGeom>
          <a:solidFill>
            <a:srgbClr val="00206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</a:rPr>
              <a:t>4. Clean Faculty Workload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E96A6F99-B6B8-AD01-69F1-2F078FBCBF1A}"/>
              </a:ext>
            </a:extLst>
          </p:cNvPr>
          <p:cNvSpPr txBox="1">
            <a:spLocks/>
          </p:cNvSpPr>
          <p:nvPr/>
        </p:nvSpPr>
        <p:spPr>
          <a:xfrm>
            <a:off x="6168512" y="4205608"/>
            <a:ext cx="5705168" cy="479889"/>
          </a:xfrm>
          <a:prstGeom prst="rect">
            <a:avLst/>
          </a:prstGeom>
          <a:solidFill>
            <a:srgbClr val="00206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</a:rPr>
              <a:t>5. Timetable Pivot Table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19B285E3-0514-047B-EAA8-80DF5CF0A343}"/>
              </a:ext>
            </a:extLst>
          </p:cNvPr>
          <p:cNvSpPr txBox="1">
            <a:spLocks/>
          </p:cNvSpPr>
          <p:nvPr/>
        </p:nvSpPr>
        <p:spPr>
          <a:xfrm>
            <a:off x="6152535" y="4816972"/>
            <a:ext cx="5773993" cy="479888"/>
          </a:xfrm>
          <a:prstGeom prst="rect">
            <a:avLst/>
          </a:prstGeom>
          <a:solidFill>
            <a:srgbClr val="00206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</a:rPr>
              <a:t>6. Faculty Pivot Table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0DC6B42-3308-A98E-BBB7-8AAAE25FEE7F}"/>
              </a:ext>
            </a:extLst>
          </p:cNvPr>
          <p:cNvSpPr txBox="1">
            <a:spLocks/>
          </p:cNvSpPr>
          <p:nvPr/>
        </p:nvSpPr>
        <p:spPr>
          <a:xfrm>
            <a:off x="6152534" y="5401846"/>
            <a:ext cx="5773994" cy="522083"/>
          </a:xfrm>
          <a:prstGeom prst="rect">
            <a:avLst/>
          </a:prstGeom>
          <a:solidFill>
            <a:srgbClr val="00206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</a:rPr>
              <a:t>7. Dashboard</a:t>
            </a:r>
            <a:endParaRPr lang="en-IN" dirty="0">
              <a:solidFill>
                <a:schemeClr val="bg1"/>
              </a:solidFill>
            </a:endParaRPr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1FCE8BDA-7F45-7FFB-18F9-2AB048DFC6C2}"/>
              </a:ext>
            </a:extLst>
          </p:cNvPr>
          <p:cNvSpPr txBox="1">
            <a:spLocks/>
          </p:cNvSpPr>
          <p:nvPr/>
        </p:nvSpPr>
        <p:spPr>
          <a:xfrm>
            <a:off x="6099686" y="6028915"/>
            <a:ext cx="5773994" cy="563614"/>
          </a:xfrm>
          <a:prstGeom prst="rect">
            <a:avLst/>
          </a:prstGeom>
          <a:solidFill>
            <a:srgbClr val="002060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IN" dirty="0">
                <a:solidFill>
                  <a:schemeClr val="bg1"/>
                </a:solidFill>
              </a:rPr>
              <a:t>8. Data Cleaning</a:t>
            </a:r>
          </a:p>
        </p:txBody>
      </p:sp>
    </p:spTree>
    <p:extLst>
      <p:ext uri="{BB962C8B-B14F-4D97-AF65-F5344CB8AC3E}">
        <p14:creationId xmlns:p14="http://schemas.microsoft.com/office/powerpoint/2010/main" val="1535885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0C188-C2BD-D52E-3097-D0255214E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6142"/>
            <a:ext cx="10515600" cy="921058"/>
          </a:xfrm>
        </p:spPr>
        <p:txBody>
          <a:bodyPr/>
          <a:lstStyle/>
          <a:p>
            <a:r>
              <a:rPr lang="en-IN" b="1" dirty="0"/>
              <a:t>Raw Timetable Schedule-Source Data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B721914-C640-534A-9314-0AD8F19EAA4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8392368"/>
              </p:ext>
            </p:extLst>
          </p:nvPr>
        </p:nvGraphicFramePr>
        <p:xfrm>
          <a:off x="471949" y="1225858"/>
          <a:ext cx="11454580" cy="357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399">
                  <a:extLst>
                    <a:ext uri="{9D8B030D-6E8A-4147-A177-3AD203B41FA5}">
                      <a16:colId xmlns:a16="http://schemas.microsoft.com/office/drawing/2014/main" val="1157732870"/>
                    </a:ext>
                  </a:extLst>
                </a:gridCol>
                <a:gridCol w="1297858">
                  <a:extLst>
                    <a:ext uri="{9D8B030D-6E8A-4147-A177-3AD203B41FA5}">
                      <a16:colId xmlns:a16="http://schemas.microsoft.com/office/drawing/2014/main" val="1632190135"/>
                    </a:ext>
                  </a:extLst>
                </a:gridCol>
                <a:gridCol w="1101213">
                  <a:extLst>
                    <a:ext uri="{9D8B030D-6E8A-4147-A177-3AD203B41FA5}">
                      <a16:colId xmlns:a16="http://schemas.microsoft.com/office/drawing/2014/main" val="897491494"/>
                    </a:ext>
                  </a:extLst>
                </a:gridCol>
                <a:gridCol w="1386348">
                  <a:extLst>
                    <a:ext uri="{9D8B030D-6E8A-4147-A177-3AD203B41FA5}">
                      <a16:colId xmlns:a16="http://schemas.microsoft.com/office/drawing/2014/main" val="191903555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933168949"/>
                    </a:ext>
                  </a:extLst>
                </a:gridCol>
                <a:gridCol w="1111045">
                  <a:extLst>
                    <a:ext uri="{9D8B030D-6E8A-4147-A177-3AD203B41FA5}">
                      <a16:colId xmlns:a16="http://schemas.microsoft.com/office/drawing/2014/main" val="1591195035"/>
                    </a:ext>
                  </a:extLst>
                </a:gridCol>
                <a:gridCol w="616480">
                  <a:extLst>
                    <a:ext uri="{9D8B030D-6E8A-4147-A177-3AD203B41FA5}">
                      <a16:colId xmlns:a16="http://schemas.microsoft.com/office/drawing/2014/main" val="730995518"/>
                    </a:ext>
                  </a:extLst>
                </a:gridCol>
                <a:gridCol w="1009136">
                  <a:extLst>
                    <a:ext uri="{9D8B030D-6E8A-4147-A177-3AD203B41FA5}">
                      <a16:colId xmlns:a16="http://schemas.microsoft.com/office/drawing/2014/main" val="1179753534"/>
                    </a:ext>
                  </a:extLst>
                </a:gridCol>
                <a:gridCol w="1029094">
                  <a:extLst>
                    <a:ext uri="{9D8B030D-6E8A-4147-A177-3AD203B41FA5}">
                      <a16:colId xmlns:a16="http://schemas.microsoft.com/office/drawing/2014/main" val="1783462561"/>
                    </a:ext>
                  </a:extLst>
                </a:gridCol>
                <a:gridCol w="835742">
                  <a:extLst>
                    <a:ext uri="{9D8B030D-6E8A-4147-A177-3AD203B41FA5}">
                      <a16:colId xmlns:a16="http://schemas.microsoft.com/office/drawing/2014/main" val="1218995028"/>
                    </a:ext>
                  </a:extLst>
                </a:gridCol>
                <a:gridCol w="934065">
                  <a:extLst>
                    <a:ext uri="{9D8B030D-6E8A-4147-A177-3AD203B41FA5}">
                      <a16:colId xmlns:a16="http://schemas.microsoft.com/office/drawing/2014/main" val="26828380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Slot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Time Slot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Department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Faculty 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Is 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Conflict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7621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TS0001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Tuesday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11:00-12:00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Algorithms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FAC1048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680590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TS0002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Friday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11:00-12:00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Dist.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FAC1042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249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TS0014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Wednesday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8:00-9:00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rgbClr val="FF0000"/>
                          </a:solidFill>
                        </a:rPr>
                        <a:t>(Blank)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Embedded Systems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FAC1036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27405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TS0030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rgbClr val="FF0000"/>
                          </a:solidFill>
                        </a:rPr>
                        <a:t>(Blank)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8:00-9:00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CAD/CAM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FAC1013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-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9862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TS0009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2:00-3:00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ECE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Cloud Computing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FAC1005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/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dirty="0">
                          <a:solidFill>
                            <a:schemeClr val="accent2">
                              <a:lumMod val="75000"/>
                            </a:schemeClr>
                          </a:solidFill>
                        </a:rPr>
                        <a:t>DUP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084767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11827F86-01B4-BED1-8453-B7825750B55E}"/>
              </a:ext>
            </a:extLst>
          </p:cNvPr>
          <p:cNvSpPr txBox="1"/>
          <p:nvPr/>
        </p:nvSpPr>
        <p:spPr>
          <a:xfrm>
            <a:off x="471949" y="4988257"/>
            <a:ext cx="11454580" cy="1869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EF4444"/>
                </a:solidFill>
              </a:rPr>
              <a:t>Data Quality Issues Found in Raw Sheet:</a:t>
            </a:r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0D1B2A"/>
                </a:solidFill>
              </a:rPr>
              <a:t>Missing Department values in rows TS0014, TS0021, TS0055 → filled with 'Unknown' in Clean sheet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0D1B2A"/>
                </a:solidFill>
              </a:rPr>
              <a:t>Missing Day values in rows TS0030, TS0040, TS0065 → filled with 'Unknown' after cleaning</a:t>
            </a:r>
            <a:endParaRPr lang="en-US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dirty="0">
                <a:solidFill>
                  <a:srgbClr val="0D1B2A"/>
                </a:solidFill>
              </a:rPr>
              <a:t>Duplicate Slot IDs detected: TS0009, TS0016, TS0046, TS0061, TS0064, TS0084 → removed in Clean sheet</a:t>
            </a:r>
            <a:endParaRPr lang="en-US" dirty="0"/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343166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6B991-708B-5DF5-5185-BE2492F50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5CC29-2FFF-CBE6-743E-48ED650B1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Raw faculty workload-Source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59439-30B9-5DDB-B1F5-A95DAFDD690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dirty="0"/>
              <a:t>16 columns in faculty workload sheet, having:</a:t>
            </a:r>
          </a:p>
          <a:p>
            <a:pPr marL="342900" indent="-342900">
              <a:spcAft>
                <a:spcPts val="6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Faculty ID  |  Faculty Name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Department  |  Designation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Experience (yrs)  |  Subjects Assigned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Theory Hours/Week  |  Lab Hours/Week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Total Contact Hours  |  Max Allowed Hours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Workload Status  |  Extra Duties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Overload Flag  |  Semester</a:t>
            </a:r>
            <a:endParaRPr lang="en-US" dirty="0"/>
          </a:p>
          <a:p>
            <a:pPr marL="342900" indent="-342900">
              <a:spcAft>
                <a:spcPts val="600"/>
              </a:spcAft>
              <a:buSzPct val="100000"/>
            </a:pPr>
            <a:r>
              <a:rPr lang="en-US" dirty="0">
                <a:solidFill>
                  <a:srgbClr val="0D1B2A"/>
                </a:solidFill>
              </a:rPr>
              <a:t>Academic Year  |  Remarks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502E15-EB87-1EA5-0DCA-56FD26A0FCC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endParaRPr lang="en-IN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9" name="Shape 6">
            <a:extLst>
              <a:ext uri="{FF2B5EF4-FFF2-40B4-BE49-F238E27FC236}">
                <a16:creationId xmlns:a16="http://schemas.microsoft.com/office/drawing/2014/main" id="{BB688CA8-770B-7D36-04E2-94CA5AAB0B52}"/>
              </a:ext>
            </a:extLst>
          </p:cNvPr>
          <p:cNvSpPr/>
          <p:nvPr/>
        </p:nvSpPr>
        <p:spPr>
          <a:xfrm>
            <a:off x="6449224" y="2010503"/>
            <a:ext cx="1662389" cy="939298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IN" sz="2000" dirty="0"/>
              <a:t>100</a:t>
            </a:r>
          </a:p>
          <a:p>
            <a:pPr algn="ctr"/>
            <a:r>
              <a:rPr lang="en-IN" sz="2000" dirty="0"/>
              <a:t>Total Faculty</a:t>
            </a: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04126860-B923-4ABA-E1C0-3187502BED6D}"/>
              </a:ext>
            </a:extLst>
          </p:cNvPr>
          <p:cNvSpPr/>
          <p:nvPr/>
        </p:nvSpPr>
        <p:spPr>
          <a:xfrm>
            <a:off x="8945757" y="3510293"/>
            <a:ext cx="1662389" cy="10124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IN" sz="2000" dirty="0"/>
              <a:t>3</a:t>
            </a:r>
          </a:p>
          <a:p>
            <a:pPr algn="ctr"/>
            <a:r>
              <a:rPr lang="en-IN" sz="2000" dirty="0"/>
              <a:t>Missing Dept records</a:t>
            </a: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7FA38DE2-5667-178C-60E7-867844D9816C}"/>
              </a:ext>
            </a:extLst>
          </p:cNvPr>
          <p:cNvSpPr/>
          <p:nvPr/>
        </p:nvSpPr>
        <p:spPr>
          <a:xfrm>
            <a:off x="6449224" y="3510293"/>
            <a:ext cx="1662389" cy="1012464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IN" sz="2000" dirty="0"/>
              <a:t>20</a:t>
            </a:r>
          </a:p>
          <a:p>
            <a:pPr algn="ctr"/>
            <a:r>
              <a:rPr lang="en-IN" sz="2000" dirty="0"/>
              <a:t>Max Hours/</a:t>
            </a:r>
            <a:r>
              <a:rPr lang="en-IN" sz="2000" dirty="0" err="1"/>
              <a:t>Wk</a:t>
            </a:r>
            <a:endParaRPr lang="en-IN" sz="2000" dirty="0"/>
          </a:p>
        </p:txBody>
      </p:sp>
      <p:sp>
        <p:nvSpPr>
          <p:cNvPr id="12" name="Shape 6">
            <a:extLst>
              <a:ext uri="{FF2B5EF4-FFF2-40B4-BE49-F238E27FC236}">
                <a16:creationId xmlns:a16="http://schemas.microsoft.com/office/drawing/2014/main" id="{B937EEE4-113B-AFD4-27C1-2572840EE78B}"/>
              </a:ext>
            </a:extLst>
          </p:cNvPr>
          <p:cNvSpPr/>
          <p:nvPr/>
        </p:nvSpPr>
        <p:spPr>
          <a:xfrm>
            <a:off x="8945756" y="2008908"/>
            <a:ext cx="1662389" cy="939297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IN" sz="2000" dirty="0"/>
              <a:t>9</a:t>
            </a:r>
          </a:p>
          <a:p>
            <a:pPr algn="ctr"/>
            <a:r>
              <a:rPr lang="en-IN" sz="2000" dirty="0"/>
              <a:t>Departments</a:t>
            </a:r>
          </a:p>
        </p:txBody>
      </p:sp>
      <p:sp>
        <p:nvSpPr>
          <p:cNvPr id="5" name="Shape 6">
            <a:extLst>
              <a:ext uri="{FF2B5EF4-FFF2-40B4-BE49-F238E27FC236}">
                <a16:creationId xmlns:a16="http://schemas.microsoft.com/office/drawing/2014/main" id="{0DC44192-84A2-89E7-9E4A-278B1163F6ED}"/>
              </a:ext>
            </a:extLst>
          </p:cNvPr>
          <p:cNvSpPr/>
          <p:nvPr/>
        </p:nvSpPr>
        <p:spPr>
          <a:xfrm>
            <a:off x="7795381" y="5013275"/>
            <a:ext cx="1662389" cy="939298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/>
          <a:lstStyle/>
          <a:p>
            <a:pPr algn="ctr"/>
            <a:r>
              <a:rPr lang="en-IN" sz="2000" dirty="0"/>
              <a:t>~14</a:t>
            </a:r>
          </a:p>
          <a:p>
            <a:pPr algn="ctr"/>
            <a:r>
              <a:rPr lang="en-IN" sz="2000" dirty="0"/>
              <a:t>Overloaded Faculty</a:t>
            </a:r>
          </a:p>
        </p:txBody>
      </p:sp>
    </p:spTree>
    <p:extLst>
      <p:ext uri="{BB962C8B-B14F-4D97-AF65-F5344CB8AC3E}">
        <p14:creationId xmlns:p14="http://schemas.microsoft.com/office/powerpoint/2010/main" val="14351948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18E8FD-0508-819E-92DE-8233D3794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4297"/>
            <a:ext cx="10515600" cy="798907"/>
          </a:xfrm>
        </p:spPr>
        <p:txBody>
          <a:bodyPr>
            <a:normAutofit fontScale="90000"/>
          </a:bodyPr>
          <a:lstStyle/>
          <a:p>
            <a:r>
              <a:rPr lang="en-IN" b="1" dirty="0"/>
              <a:t>Data Cleaning – Raw -&gt; Clean Transformation</a:t>
            </a:r>
          </a:p>
        </p:txBody>
      </p:sp>
      <p:graphicFrame>
        <p:nvGraphicFramePr>
          <p:cNvPr id="8" name="Content Placeholder 7">
            <a:extLst>
              <a:ext uri="{FF2B5EF4-FFF2-40B4-BE49-F238E27FC236}">
                <a16:creationId xmlns:a16="http://schemas.microsoft.com/office/drawing/2014/main" id="{BA699478-0C43-9106-9A27-4191E86A81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8881364"/>
              </p:ext>
            </p:extLst>
          </p:nvPr>
        </p:nvGraphicFramePr>
        <p:xfrm>
          <a:off x="838203" y="1133204"/>
          <a:ext cx="10515597" cy="52837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285399340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85175850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561433581"/>
                    </a:ext>
                  </a:extLst>
                </a:gridCol>
              </a:tblGrid>
              <a:tr h="711729"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1. Fill Missing Values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2. Remove Duplicates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3. Standardize &amp; Validate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6458545"/>
                  </a:ext>
                </a:extLst>
              </a:tr>
              <a:tr h="7117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Blank Department → "Unknown"</a:t>
                      </a:r>
                      <a:endParaRPr 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Duplicate Slot IDs identified in raw sheet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Data Validation: dropdown lists for Day, Dept, Section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2954207"/>
                  </a:ext>
                </a:extLst>
              </a:tr>
              <a:tr h="7117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Blank Day → "Unknown"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TS0009, TS0016, TS0046, TS0061, TS0064, TS0084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Time slots locked to predefined values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6945181"/>
                  </a:ext>
                </a:extLst>
              </a:tr>
              <a:tr h="7117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Blank Workload Status → computed from hours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Removed using Excel's Data → Remove Duplicates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Is Lab column: only Yes/No allowed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8276116"/>
                  </a:ext>
                </a:extLst>
              </a:tr>
              <a:tr h="7117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Blank Overload Flag → derived via IF formula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Kept first occurrence; deleted subsequent copies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Conflict Flag auto-flagged via COUNTIFS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4072841"/>
                  </a:ext>
                </a:extLst>
              </a:tr>
              <a:tr h="7117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Formula: =IF(A2="","Unknown",A2)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Clean sheet has unique Slot IDs only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>
                          <a:solidFill>
                            <a:srgbClr val="0D1B2A"/>
                          </a:solidFill>
                        </a:rPr>
                        <a:t>Consistent formatting across all rows</a:t>
                      </a:r>
                      <a:endParaRPr lang="en-US" sz="1800" dirty="0"/>
                    </a:p>
                    <a:p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42565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19452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A2220-F6CF-6A1C-F215-7795EEF03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Excel Formulas – VLOOKUP, IF, COUNTIF &amp; more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8F6E7-5781-31C5-7235-EC36ABB57E0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IN" sz="1600" b="1" u="sng" dirty="0"/>
              <a:t>VLOOKUP</a:t>
            </a:r>
            <a:r>
              <a:rPr lang="en-IN" sz="1600" dirty="0"/>
              <a:t>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VLOOKUP(G2, </a:t>
            </a:r>
            <a:r>
              <a:rPr lang="en-US" sz="1600" dirty="0" err="1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Faculty_Workload!A:B</a:t>
            </a:r>
            <a:r>
              <a:rPr lang="en-US" sz="16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2, FALSE)</a:t>
            </a:r>
          </a:p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Syntax: VLOOKUP(</a:t>
            </a:r>
            <a:r>
              <a:rPr lang="en-US" sz="1600" i="1" dirty="0" err="1">
                <a:solidFill>
                  <a:srgbClr val="64748B"/>
                </a:solidFill>
              </a:rPr>
              <a:t>lookup_value</a:t>
            </a:r>
            <a:r>
              <a:rPr lang="en-US" sz="1600" i="1" dirty="0">
                <a:solidFill>
                  <a:srgbClr val="64748B"/>
                </a:solidFill>
              </a:rPr>
              <a:t>, </a:t>
            </a:r>
            <a:r>
              <a:rPr lang="en-US" sz="1600" i="1" dirty="0" err="1">
                <a:solidFill>
                  <a:srgbClr val="64748B"/>
                </a:solidFill>
              </a:rPr>
              <a:t>table_array</a:t>
            </a:r>
            <a:r>
              <a:rPr lang="en-US" sz="1600" i="1" dirty="0">
                <a:solidFill>
                  <a:srgbClr val="64748B"/>
                </a:solidFill>
              </a:rPr>
              <a:t>, </a:t>
            </a:r>
            <a:r>
              <a:rPr lang="en-US" sz="1600" i="1" dirty="0" err="1">
                <a:solidFill>
                  <a:srgbClr val="64748B"/>
                </a:solidFill>
              </a:rPr>
              <a:t>col_index</a:t>
            </a:r>
            <a:r>
              <a:rPr lang="en-US" sz="1600" i="1" dirty="0">
                <a:solidFill>
                  <a:srgbClr val="64748B"/>
                </a:solidFill>
              </a:rPr>
              <a:t>, [</a:t>
            </a:r>
            <a:r>
              <a:rPr lang="en-US" sz="1600" i="1" dirty="0" err="1">
                <a:solidFill>
                  <a:srgbClr val="64748B"/>
                </a:solidFill>
              </a:rPr>
              <a:t>exact_match</a:t>
            </a:r>
            <a:r>
              <a:rPr lang="en-US" sz="1600" i="1" dirty="0">
                <a:solidFill>
                  <a:srgbClr val="64748B"/>
                </a:solidFill>
              </a:rPr>
              <a:t>])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0D1B2A"/>
                </a:solidFill>
              </a:rPr>
              <a:t>Fetches Faculty Name from </a:t>
            </a:r>
            <a:r>
              <a:rPr lang="en-US" sz="1600" dirty="0" err="1">
                <a:solidFill>
                  <a:srgbClr val="0D1B2A"/>
                </a:solidFill>
              </a:rPr>
              <a:t>Faculty_Workload</a:t>
            </a:r>
            <a:r>
              <a:rPr lang="en-US" sz="1600" dirty="0">
                <a:solidFill>
                  <a:srgbClr val="0D1B2A"/>
                </a:solidFill>
              </a:rPr>
              <a:t> sheet using Faculty ID — links timetable to faculty data without manual copy-paste.</a:t>
            </a:r>
          </a:p>
          <a:p>
            <a:r>
              <a:rPr lang="en-US" sz="1600" b="1" u="sng" dirty="0"/>
              <a:t>COUNTIFS</a:t>
            </a:r>
            <a:r>
              <a:rPr lang="en-US" sz="1600" dirty="0"/>
              <a:t>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=COUNTIFS(G:G, G2, B:B, B2, C:C, C2)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64748B"/>
                </a:solidFill>
              </a:rPr>
              <a:t>Syntax: COUNTIFS(range1, criteria1, range2, criteria2, ...)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0D1B2A"/>
                </a:solidFill>
              </a:rPr>
              <a:t>Detects scheduling conflicts — counts how many slots share the same Faculty, Day, and Time. If &gt;1, it's a conflict.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endParaRPr lang="en-IN" sz="1600" dirty="0"/>
          </a:p>
          <a:p>
            <a:pPr marL="0" indent="0">
              <a:buNone/>
            </a:pPr>
            <a:endParaRPr lang="en-IN" sz="16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69834-75B1-6279-54A6-02E57397279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1600" b="1" u="sng" dirty="0" err="1"/>
              <a:t>IF+Nested</a:t>
            </a:r>
            <a:r>
              <a:rPr lang="en-US" sz="1600" dirty="0"/>
              <a:t>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=IF(I2&gt;J2, "Overloaded", IF(I2=J2, "At Limit", "Normal"))</a:t>
            </a:r>
            <a:endParaRPr lang="en-US" sz="1600" dirty="0"/>
          </a:p>
          <a:p>
            <a:pPr marL="0" indent="0" algn="l" rtl="0" eaLnBrk="1" latinLnBrk="0" hangingPunct="1">
              <a:buNone/>
            </a:pPr>
            <a:r>
              <a:rPr lang="en-US" sz="1600" i="1" kern="1200" dirty="0">
                <a:solidFill>
                  <a:srgbClr val="64748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Syntax: IF(condition, </a:t>
            </a:r>
            <a:r>
              <a:rPr lang="en-US" sz="1600" i="1" kern="1200" dirty="0" err="1">
                <a:solidFill>
                  <a:srgbClr val="64748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value_if_true</a:t>
            </a:r>
            <a:r>
              <a:rPr lang="en-US" sz="1600" i="1" kern="1200" dirty="0">
                <a:solidFill>
                  <a:srgbClr val="64748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, </a:t>
            </a:r>
            <a:r>
              <a:rPr lang="en-US" sz="1600" i="1" kern="1200" dirty="0" err="1">
                <a:solidFill>
                  <a:srgbClr val="64748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value_if_false</a:t>
            </a:r>
            <a:r>
              <a:rPr lang="en-US" sz="1600" i="1" kern="1200" dirty="0">
                <a:solidFill>
                  <a:srgbClr val="64748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)</a:t>
            </a:r>
            <a:endParaRPr lang="en-IN" sz="1100" dirty="0">
              <a:effectLst/>
            </a:endParaRPr>
          </a:p>
          <a:p>
            <a:pPr marL="0" indent="0" algn="l" rtl="0" eaLnBrk="1" latinLnBrk="0" hangingPunct="1">
              <a:buNone/>
            </a:pPr>
            <a:r>
              <a:rPr lang="en-US" sz="1600" kern="1200" dirty="0">
                <a:solidFill>
                  <a:srgbClr val="0D1B2A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Classifies Workload Status based on Total Contact Hours vs Max Allowed Hours — automates the status column.</a:t>
            </a:r>
            <a:endParaRPr lang="en-IN" sz="1100" dirty="0">
              <a:effectLst/>
            </a:endParaRPr>
          </a:p>
          <a:p>
            <a:r>
              <a:rPr lang="en-IN" sz="1600" b="1" u="sng" dirty="0"/>
              <a:t>Fill Missing</a:t>
            </a:r>
            <a:r>
              <a:rPr lang="en-IN" sz="1600" dirty="0"/>
              <a:t>:</a:t>
            </a:r>
          </a:p>
          <a:p>
            <a:pPr marL="0" indent="0">
              <a:buNone/>
            </a:pPr>
            <a:r>
              <a:rPr lang="en-US" sz="16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=IF(D2="", "Unknown", D2)</a:t>
            </a:r>
            <a:endParaRPr lang="en-US" sz="1600" dirty="0"/>
          </a:p>
          <a:p>
            <a:pPr marL="0" indent="0" algn="l" rtl="0" eaLnBrk="1" latinLnBrk="0" hangingPunct="1">
              <a:buNone/>
            </a:pPr>
            <a:r>
              <a:rPr lang="en-US" sz="1600" i="1" kern="1200" dirty="0">
                <a:solidFill>
                  <a:srgbClr val="64748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Syntax: IF(cell="", </a:t>
            </a:r>
            <a:r>
              <a:rPr lang="en-US" sz="1600" i="1" kern="1200" dirty="0" err="1">
                <a:solidFill>
                  <a:srgbClr val="64748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default_value</a:t>
            </a:r>
            <a:r>
              <a:rPr lang="en-US" sz="1600" i="1" kern="1200" dirty="0">
                <a:solidFill>
                  <a:srgbClr val="64748B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, cell)</a:t>
            </a:r>
            <a:endParaRPr lang="en-IN" sz="1100" dirty="0">
              <a:effectLst/>
            </a:endParaRPr>
          </a:p>
          <a:p>
            <a:pPr marL="0" indent="0">
              <a:buNone/>
            </a:pPr>
            <a:r>
              <a:rPr lang="en-US" sz="1600" kern="1200" dirty="0">
                <a:solidFill>
                  <a:srgbClr val="0D1B2A"/>
                </a:solidFill>
                <a:effectLst/>
                <a:latin typeface="Calibri" panose="020F0502020204030204" pitchFamily="34" charset="0"/>
                <a:ea typeface="+mn-ea"/>
                <a:cs typeface="+mn-cs"/>
              </a:rPr>
              <a:t>Fills blank Department cells with 'Unknown' in the clean sheet, ensuring no empty cells break pivot tables or formulas</a:t>
            </a:r>
            <a:endParaRPr lang="en-IN" sz="1600" dirty="0"/>
          </a:p>
        </p:txBody>
      </p:sp>
    </p:spTree>
    <p:extLst>
      <p:ext uri="{BB962C8B-B14F-4D97-AF65-F5344CB8AC3E}">
        <p14:creationId xmlns:p14="http://schemas.microsoft.com/office/powerpoint/2010/main" val="34901479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101A1EB-4457-2465-D3B2-88BC4BD9ED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Data validation and conditional formatting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0DFF1E-1E54-E728-31D1-8E78E0D2E77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b="1" u="sng" dirty="0"/>
              <a:t>Data </a:t>
            </a:r>
            <a:r>
              <a:rPr lang="en-IN" sz="1800" b="1" u="sng" dirty="0" err="1"/>
              <a:t>Vaidation</a:t>
            </a:r>
            <a:endParaRPr lang="en-IN" sz="1800" b="1" u="sng" dirty="0"/>
          </a:p>
          <a:p>
            <a:r>
              <a:rPr lang="en-IN" sz="1800" u="sng" dirty="0">
                <a:solidFill>
                  <a:srgbClr val="00B050"/>
                </a:solidFill>
              </a:rPr>
              <a:t>Dropdown</a:t>
            </a:r>
            <a:r>
              <a:rPr lang="en-IN" sz="1800" dirty="0"/>
              <a:t> — Section: List: A, B, C, D</a:t>
            </a:r>
          </a:p>
          <a:p>
            <a:r>
              <a:rPr lang="en-IN" sz="1800" u="sng" dirty="0">
                <a:solidFill>
                  <a:srgbClr val="00B050"/>
                </a:solidFill>
              </a:rPr>
              <a:t>Dropdown</a:t>
            </a:r>
            <a:r>
              <a:rPr lang="en-IN" sz="1800" dirty="0"/>
              <a:t> — Is Lab: List: Yes, No</a:t>
            </a:r>
          </a:p>
          <a:p>
            <a:r>
              <a:rPr lang="en-IN" sz="1800" u="sng" dirty="0">
                <a:solidFill>
                  <a:srgbClr val="C00000"/>
                </a:solidFill>
              </a:rPr>
              <a:t>Numeric</a:t>
            </a:r>
            <a:r>
              <a:rPr lang="en-IN" sz="1800" dirty="0"/>
              <a:t> — Duration (hrs): Whole Number between 1 and 4</a:t>
            </a:r>
          </a:p>
          <a:p>
            <a:r>
              <a:rPr lang="en-IN" sz="1800" u="sng" dirty="0">
                <a:solidFill>
                  <a:srgbClr val="C00000"/>
                </a:solidFill>
              </a:rPr>
              <a:t>Numeric</a:t>
            </a:r>
            <a:r>
              <a:rPr lang="en-IN" sz="1800" dirty="0"/>
              <a:t> — Semester: Whole Number between 1 and 8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1D3301-D4B3-155E-183A-3FD2EC651CC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N" sz="1800" b="1" u="sng" dirty="0"/>
              <a:t>Conditional Formatting</a:t>
            </a:r>
          </a:p>
          <a:p>
            <a:r>
              <a:rPr lang="en-US" sz="1800" u="sng" dirty="0">
                <a:solidFill>
                  <a:srgbClr val="FF0000"/>
                </a:solidFill>
              </a:rPr>
              <a:t>Conflict Flag </a:t>
            </a:r>
            <a:r>
              <a:rPr lang="en-US" sz="1800" dirty="0"/>
              <a:t>= Yes — Red row highlight on scheduling conflicts</a:t>
            </a:r>
          </a:p>
          <a:p>
            <a:r>
              <a:rPr lang="en-US" sz="1800" u="sng" dirty="0">
                <a:solidFill>
                  <a:srgbClr val="FF0000"/>
                </a:solidFill>
              </a:rPr>
              <a:t>Overloaded Faculty </a:t>
            </a:r>
            <a:r>
              <a:rPr lang="en-US" sz="1800" dirty="0"/>
              <a:t>— Red highlight when Total Hours &gt; Max Allowed</a:t>
            </a:r>
          </a:p>
          <a:p>
            <a:r>
              <a:rPr lang="en-US" sz="1800" u="sng" dirty="0">
                <a:solidFill>
                  <a:srgbClr val="00B050"/>
                </a:solidFill>
              </a:rPr>
              <a:t>Normal Workload </a:t>
            </a:r>
            <a:r>
              <a:rPr lang="en-US" sz="1800" dirty="0"/>
              <a:t>— Nothing when Total Hours = Max Allowed</a:t>
            </a:r>
          </a:p>
          <a:p>
            <a:r>
              <a:rPr lang="en-US" sz="1800" u="sng" dirty="0">
                <a:solidFill>
                  <a:schemeClr val="accent4">
                    <a:lumMod val="75000"/>
                  </a:schemeClr>
                </a:solidFill>
              </a:rPr>
              <a:t>Underloaded Faculty </a:t>
            </a:r>
            <a:r>
              <a:rPr lang="en-US" sz="1800" dirty="0"/>
              <a:t>— Amber highlight when Total Hours &lt; Max Allowed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8399986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052D9-913C-9014-E2E0-903BD92B27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Macros and automation buttons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BA2A8-224A-E518-A7AF-088A2A1601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92479" y="1845734"/>
            <a:ext cx="4937760" cy="4023360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spcAft>
                <a:spcPts val="500"/>
              </a:spcAft>
              <a:buSzPct val="100000"/>
            </a:pPr>
            <a:r>
              <a:rPr lang="en-US" sz="2300" dirty="0">
                <a:solidFill>
                  <a:srgbClr val="0D1B2A"/>
                </a:solidFill>
              </a:rPr>
              <a:t>Macros are recorded VBA (Visual Basic for Applications) scripts embedded in Excel.</a:t>
            </a:r>
            <a:endParaRPr lang="en-US" sz="2300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sz="2300" dirty="0">
                <a:solidFill>
                  <a:srgbClr val="0D1B2A"/>
                </a:solidFill>
              </a:rPr>
              <a:t>They automate repetitive tasks with a single button click.</a:t>
            </a:r>
            <a:endParaRPr lang="en-US" sz="2300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sz="2300" dirty="0">
                <a:solidFill>
                  <a:srgbClr val="0D1B2A"/>
                </a:solidFill>
              </a:rPr>
              <a:t>Stored in .</a:t>
            </a:r>
            <a:r>
              <a:rPr lang="en-US" sz="2300" dirty="0" err="1">
                <a:solidFill>
                  <a:srgbClr val="0D1B2A"/>
                </a:solidFill>
              </a:rPr>
              <a:t>xlsm</a:t>
            </a:r>
            <a:r>
              <a:rPr lang="en-US" sz="2300" dirty="0">
                <a:solidFill>
                  <a:srgbClr val="0D1B2A"/>
                </a:solidFill>
              </a:rPr>
              <a:t> (macro-enabled) format.</a:t>
            </a:r>
            <a:endParaRPr lang="en-US" sz="2300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sz="2300" dirty="0">
                <a:solidFill>
                  <a:srgbClr val="0D1B2A"/>
                </a:solidFill>
              </a:rPr>
              <a:t>Can sort, filter, clear, format, or navigate sheets automatically.</a:t>
            </a:r>
            <a:endParaRPr lang="en-US" sz="2300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sz="2300" dirty="0">
                <a:solidFill>
                  <a:srgbClr val="0D1B2A"/>
                </a:solidFill>
              </a:rPr>
              <a:t>Buttons are inserted via Developer tab → Insert → Form Control → Button, then assigned a macro.</a:t>
            </a:r>
            <a:endParaRPr lang="en-US" sz="2300" dirty="0"/>
          </a:p>
          <a:p>
            <a:pPr marL="342900" indent="-342900">
              <a:spcAft>
                <a:spcPts val="500"/>
              </a:spcAft>
              <a:buSzPct val="100000"/>
            </a:pPr>
            <a:r>
              <a:rPr lang="en-US" sz="2300" dirty="0">
                <a:solidFill>
                  <a:srgbClr val="0D1B2A"/>
                </a:solidFill>
              </a:rPr>
              <a:t>Each button in this workbook triggers a specific VBA Sub procedure.</a:t>
            </a:r>
            <a:endParaRPr lang="en-US" sz="2300" dirty="0"/>
          </a:p>
          <a:p>
            <a:endParaRPr lang="en-IN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D617852-BBE0-7374-98F4-94FEE04CED0F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41140" y="2327069"/>
            <a:ext cx="6079287" cy="2579227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</p:spTree>
    <p:extLst>
      <p:ext uri="{BB962C8B-B14F-4D97-AF65-F5344CB8AC3E}">
        <p14:creationId xmlns:p14="http://schemas.microsoft.com/office/powerpoint/2010/main" val="1329064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9B2B7-83E3-F959-26E2-56DD553B0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/>
              <a:t>Pivot tables: Timetable and Faculty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440FBE-EABE-023D-5D3D-AD6BB88901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IN" sz="1800" b="1" dirty="0">
                <a:solidFill>
                  <a:schemeClr val="accent1">
                    <a:lumMod val="50000"/>
                  </a:schemeClr>
                </a:solidFill>
              </a:rPr>
              <a:t>Timetable Pivot Table</a:t>
            </a:r>
          </a:p>
          <a:p>
            <a:r>
              <a:rPr lang="en-IN" sz="1800" dirty="0"/>
              <a:t>ROWS — Department, Day</a:t>
            </a:r>
          </a:p>
          <a:p>
            <a:r>
              <a:rPr lang="en-IN" sz="1800" dirty="0"/>
              <a:t>COLUMNS — Is Lab</a:t>
            </a:r>
          </a:p>
          <a:p>
            <a:r>
              <a:rPr lang="en-IN" sz="1800" dirty="0"/>
              <a:t>VALUES — Count of Slot IDs</a:t>
            </a:r>
          </a:p>
          <a:p>
            <a:r>
              <a:rPr lang="en-IN" sz="1800" dirty="0"/>
              <a:t>FILTERS — Semester, Section</a:t>
            </a:r>
          </a:p>
          <a:p>
            <a:pPr marL="0" indent="0">
              <a:buNone/>
            </a:pPr>
            <a:endParaRPr lang="en-IN" sz="1800" dirty="0"/>
          </a:p>
          <a:p>
            <a:pPr marL="0" indent="0">
              <a:buNone/>
            </a:pPr>
            <a:r>
              <a:rPr lang="en-IN" sz="1800" b="1" dirty="0">
                <a:solidFill>
                  <a:schemeClr val="accent1">
                    <a:lumMod val="50000"/>
                  </a:schemeClr>
                </a:solidFill>
              </a:rPr>
              <a:t>Key Insights:</a:t>
            </a:r>
          </a:p>
          <a:p>
            <a:r>
              <a:rPr lang="en-IN" sz="1800" dirty="0"/>
              <a:t>Shows how many slots each dept has per day</a:t>
            </a:r>
          </a:p>
          <a:p>
            <a:r>
              <a:rPr lang="en-IN" sz="1800" dirty="0"/>
              <a:t>Separates theory vs lab sessions</a:t>
            </a:r>
          </a:p>
          <a:p>
            <a:r>
              <a:rPr lang="en-IN" sz="1800" dirty="0"/>
              <a:t>Identifies busiest days for each department</a:t>
            </a:r>
          </a:p>
          <a:p>
            <a:r>
              <a:rPr lang="en-IN" sz="1800" dirty="0"/>
              <a:t>Filter by semester to see specific workload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877903-380B-95DF-0435-0103BA2970E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C00000"/>
                </a:solidFill>
              </a:rPr>
              <a:t>Faculty Pivot Table</a:t>
            </a:r>
          </a:p>
          <a:p>
            <a:r>
              <a:rPr lang="en-US" sz="1800" dirty="0"/>
              <a:t>ROWS — Department, Designation</a:t>
            </a:r>
          </a:p>
          <a:p>
            <a:r>
              <a:rPr lang="en-US" sz="1800" dirty="0"/>
              <a:t>COLUMNS — Workload Status</a:t>
            </a:r>
          </a:p>
          <a:p>
            <a:r>
              <a:rPr lang="en-US" sz="1800" dirty="0"/>
              <a:t>VALUES — Average Total Contact Hours</a:t>
            </a:r>
          </a:p>
          <a:p>
            <a:r>
              <a:rPr lang="en-US" sz="1800" dirty="0"/>
              <a:t>FILTERS — Semester, Academic Year</a:t>
            </a:r>
          </a:p>
          <a:p>
            <a:pPr marL="0" indent="0">
              <a:buNone/>
            </a:pPr>
            <a:br>
              <a:rPr lang="en-US" sz="1800" dirty="0"/>
            </a:br>
            <a:r>
              <a:rPr lang="en-US" sz="1800" b="1" dirty="0">
                <a:solidFill>
                  <a:srgbClr val="C00000"/>
                </a:solidFill>
              </a:rPr>
              <a:t>Key Insights:</a:t>
            </a:r>
          </a:p>
          <a:p>
            <a:r>
              <a:rPr lang="en-US" sz="1800" dirty="0"/>
              <a:t>Compares avg workload across departments</a:t>
            </a:r>
          </a:p>
          <a:p>
            <a:r>
              <a:rPr lang="en-US" sz="1800" dirty="0"/>
              <a:t>Breaks down by designation (Prof, Lecturer, etc.)</a:t>
            </a:r>
          </a:p>
          <a:p>
            <a:r>
              <a:rPr lang="en-US" sz="1800" dirty="0"/>
              <a:t>Identifies overloaded departments at a glance</a:t>
            </a:r>
          </a:p>
          <a:p>
            <a:r>
              <a:rPr lang="en-US" sz="1800" dirty="0"/>
              <a:t>Academic Year filter for trend comparison</a:t>
            </a:r>
            <a:endParaRPr lang="en-IN" sz="1800" dirty="0"/>
          </a:p>
        </p:txBody>
      </p:sp>
    </p:spTree>
    <p:extLst>
      <p:ext uri="{BB962C8B-B14F-4D97-AF65-F5344CB8AC3E}">
        <p14:creationId xmlns:p14="http://schemas.microsoft.com/office/powerpoint/2010/main" val="41406615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018745-B4D0-0065-2833-D224EEB1C4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Pivot tables, charts &amp; slicers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A8B02-3A5F-D745-E6F7-975389DB63F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u="sng" dirty="0"/>
              <a:t>Timetable Pivot</a:t>
            </a:r>
            <a:r>
              <a:rPr lang="en-US" dirty="0"/>
              <a:t>:</a:t>
            </a:r>
            <a:endParaRPr lang="en-US" b="1" u="sng" dirty="0"/>
          </a:p>
          <a:p>
            <a:r>
              <a:rPr lang="en-US" dirty="0"/>
              <a:t>Pivot table &amp; chart consists of no. of cumulative </a:t>
            </a:r>
            <a:r>
              <a:rPr lang="en-US" dirty="0" err="1"/>
              <a:t>hrs</a:t>
            </a:r>
            <a:r>
              <a:rPr lang="en-US" dirty="0"/>
              <a:t> a subject gets, filtered by Department.</a:t>
            </a:r>
          </a:p>
          <a:p>
            <a:r>
              <a:rPr lang="en-US" dirty="0"/>
              <a:t>Slicer slices pivot data according to Weekdays.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9FD0FA1-C82D-A4CB-7C4F-54F95D93A8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56963" y="1833171"/>
            <a:ext cx="5181600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 u="sng" dirty="0"/>
              <a:t>Faculty Pivot</a:t>
            </a:r>
            <a:r>
              <a:rPr lang="en-US" dirty="0"/>
              <a:t>:</a:t>
            </a:r>
          </a:p>
          <a:p>
            <a:r>
              <a:rPr lang="en-IN" dirty="0"/>
              <a:t>Pivot table and chart consists of cumulative contact hrs of a faculty, filtered by Department.</a:t>
            </a:r>
          </a:p>
          <a:p>
            <a:r>
              <a:rPr lang="en-IN" dirty="0"/>
              <a:t>Slicer slices the pivot data according to faculty designation &amp; workload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A8BDF3B-3DEF-9A88-5C36-A7237EE422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279" y="3910013"/>
            <a:ext cx="4395789" cy="21288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9D6F51F-043C-952C-B12F-73DA6F99EB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80" y="3857414"/>
            <a:ext cx="5067203" cy="2078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640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02C07-56E1-89CD-6607-8D769BB64B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Dashboard- unified &amp; visual summary</a:t>
            </a:r>
            <a:endParaRPr lang="en-IN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226FA-CAAC-A7A8-E6D6-5584074CE8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Dashboard pulls live data from pivot tables — all charts &amp; KPIs update automatically when source data changes.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BE7FB1-9FFC-8199-E28E-9E41AA292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1977" y="2621310"/>
            <a:ext cx="7588046" cy="4140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916156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350</TotalTime>
  <Words>1262</Words>
  <Application>Microsoft Office PowerPoint</Application>
  <PresentationFormat>Widescreen</PresentationFormat>
  <Paragraphs>210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Consolas</vt:lpstr>
      <vt:lpstr>Retrospect</vt:lpstr>
      <vt:lpstr>Smart Timetable Generator &amp; Workload Manager </vt:lpstr>
      <vt:lpstr>Project Summary</vt:lpstr>
      <vt:lpstr>Index Sheet – Navigation with Hyperlinks</vt:lpstr>
      <vt:lpstr>Raw Timetable Schedule-Source Data</vt:lpstr>
      <vt:lpstr>Raw faculty workload-Source data</vt:lpstr>
      <vt:lpstr>Data Cleaning – Raw -&gt; Clean Transformation</vt:lpstr>
      <vt:lpstr>Excel Formulas – VLOOKUP, IF, COUNTIF &amp; more</vt:lpstr>
      <vt:lpstr>Data validation and conditional formatting</vt:lpstr>
      <vt:lpstr>Macros and automation buttons</vt:lpstr>
      <vt:lpstr>Pivot tables: Timetable and Faculty analysis</vt:lpstr>
      <vt:lpstr>Pivot tables, charts &amp; slicers</vt:lpstr>
      <vt:lpstr>Dashboard- unified &amp; visual 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SAYAR SEKHAR GHOSH</dc:creator>
  <cp:lastModifiedBy>Anudip</cp:lastModifiedBy>
  <cp:revision>7</cp:revision>
  <dcterms:created xsi:type="dcterms:W3CDTF">2026-05-19T06:37:33Z</dcterms:created>
  <dcterms:modified xsi:type="dcterms:W3CDTF">2026-05-20T05:20:38Z</dcterms:modified>
</cp:coreProperties>
</file>