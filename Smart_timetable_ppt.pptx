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4"/>
  </p:notes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BA057E-AEDA-459E-ABE9-F7FF23113E78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BA243-5085-42EF-89DB-382E97520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028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A243-5085-42EF-89DB-382E9752004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989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5CF2-AF1E-46DA-BC56-7C6812EFC0CE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CFFA5-839B-447D-9427-8840412ED7A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967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5CF2-AF1E-46DA-BC56-7C6812EFC0CE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CFFA5-839B-447D-9427-8840412ED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89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5CF2-AF1E-46DA-BC56-7C6812EFC0CE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CFFA5-839B-447D-9427-8840412ED7A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39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5CF2-AF1E-46DA-BC56-7C6812EFC0CE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CFFA5-839B-447D-9427-8840412ED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757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5CF2-AF1E-46DA-BC56-7C6812EFC0CE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CFFA5-839B-447D-9427-8840412ED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671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5CF2-AF1E-46DA-BC56-7C6812EFC0CE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CFFA5-839B-447D-9427-8840412ED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36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5CF2-AF1E-46DA-BC56-7C6812EFC0CE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CFFA5-839B-447D-9427-8840412ED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168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2865CF2-AF1E-46DA-BC56-7C6812EFC0CE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ECFFA5-839B-447D-9427-8840412ED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159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5CF2-AF1E-46DA-BC56-7C6812EFC0CE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CFFA5-839B-447D-9427-8840412ED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97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5CF2-AF1E-46DA-BC56-7C6812EFC0CE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CFFA5-839B-447D-9427-8840412ED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63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65CF2-AF1E-46DA-BC56-7C6812EFC0CE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CFFA5-839B-447D-9427-8840412ED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366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2865CF2-AF1E-46DA-BC56-7C6812EFC0CE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1ECFFA5-839B-447D-9427-8840412ED7A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491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6FFB6-2B39-EA86-70F3-7C1496F74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41800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Smart Timetable Generator</a:t>
            </a:r>
            <a:br>
              <a:rPr lang="en-IN" dirty="0">
                <a:effectLst/>
              </a:rPr>
            </a:br>
            <a:r>
              <a:rPr lang="en-US" b="1" dirty="0"/>
              <a:t>&amp; Workload Manager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870BE-DFFF-BCB9-2831-7512259A03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Excel-Based Academic Scheduling &amp; Faculty Workload Management System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IN" dirty="0"/>
              <a:t>9 sheets | 100+ records | Macros | Pivot tables | Dashboard | Data Cleaning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CFD1A5-B9BA-4293-B955-B6F575174ADF}"/>
              </a:ext>
            </a:extLst>
          </p:cNvPr>
          <p:cNvSpPr txBox="1"/>
          <p:nvPr/>
        </p:nvSpPr>
        <p:spPr>
          <a:xfrm>
            <a:off x="1266092" y="2508738"/>
            <a:ext cx="974187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7030A0"/>
                </a:solidFill>
              </a:rPr>
              <a:t>Presented by: </a:t>
            </a:r>
          </a:p>
          <a:p>
            <a:r>
              <a:rPr lang="en-US" dirty="0"/>
              <a:t>Antara Pal</a:t>
            </a:r>
          </a:p>
          <a:p>
            <a:r>
              <a:rPr lang="en-US" dirty="0"/>
              <a:t>Sayar Sekhar Ghosh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8806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EFB2D-056A-3CBC-38C9-C91239C11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38553"/>
            <a:ext cx="10058400" cy="905022"/>
          </a:xfrm>
        </p:spPr>
        <p:txBody>
          <a:bodyPr/>
          <a:lstStyle/>
          <a:p>
            <a:pPr algn="ctr"/>
            <a:r>
              <a:rPr lang="en-IN" b="1" dirty="0"/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F9E48-C62D-1648-620B-064AC7213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23360"/>
          </a:xfrm>
        </p:spPr>
        <p:txBody>
          <a:bodyPr>
            <a:noAutofit/>
          </a:bodyPr>
          <a:lstStyle/>
          <a:p>
            <a:r>
              <a:rPr lang="en-IN" sz="2200" dirty="0"/>
              <a:t> </a:t>
            </a:r>
            <a:r>
              <a:rPr lang="en-IN" sz="2200" b="1" u="sng" dirty="0">
                <a:solidFill>
                  <a:srgbClr val="002060"/>
                </a:solidFill>
              </a:rPr>
              <a:t>9-Sheet Workbook Text</a:t>
            </a:r>
            <a:r>
              <a:rPr lang="en-IN" sz="2200" dirty="0"/>
              <a:t>: Index, Data Cleaning, Raw Data (x2), Clean Data (x2), Pivots (x2), Dashboard</a:t>
            </a:r>
          </a:p>
          <a:p>
            <a:r>
              <a:rPr lang="en-IN" sz="2200" b="1" u="sng" dirty="0">
                <a:solidFill>
                  <a:srgbClr val="002060"/>
                </a:solidFill>
              </a:rPr>
              <a:t>Data Cleaning Text</a:t>
            </a:r>
            <a:r>
              <a:rPr lang="en-IN" sz="2200" dirty="0"/>
              <a:t>: Missing value imputation + duplicate removal in both datasets</a:t>
            </a:r>
          </a:p>
          <a:p>
            <a:r>
              <a:rPr lang="en-IN" sz="2200" b="1" u="sng" dirty="0">
                <a:solidFill>
                  <a:srgbClr val="002060"/>
                </a:solidFill>
              </a:rPr>
              <a:t>Smart Formulas Text</a:t>
            </a:r>
            <a:r>
              <a:rPr lang="en-IN" sz="2200" dirty="0"/>
              <a:t>: Smart formulas like nested if, </a:t>
            </a:r>
            <a:r>
              <a:rPr lang="en-IN" sz="2200" dirty="0" err="1"/>
              <a:t>countblank</a:t>
            </a:r>
            <a:r>
              <a:rPr lang="en-IN" sz="2200" dirty="0"/>
              <a:t> have been used.</a:t>
            </a:r>
          </a:p>
          <a:p>
            <a:r>
              <a:rPr lang="en-IN" sz="2200" b="1" u="sng" dirty="0">
                <a:solidFill>
                  <a:srgbClr val="002060"/>
                </a:solidFill>
              </a:rPr>
              <a:t>Data Validation Text</a:t>
            </a:r>
            <a:r>
              <a:rPr lang="en-IN" sz="2200" dirty="0"/>
              <a:t>: Data validation on Departments, Sections have been done.</a:t>
            </a:r>
          </a:p>
          <a:p>
            <a:r>
              <a:rPr lang="en-IN" sz="2200" b="1" u="sng" dirty="0">
                <a:solidFill>
                  <a:srgbClr val="002060"/>
                </a:solidFill>
              </a:rPr>
              <a:t>Conditional Formatting Text</a:t>
            </a:r>
            <a:r>
              <a:rPr lang="en-IN" sz="2200" dirty="0"/>
              <a:t>: Color-coded workload status, conflicts, labs &amp; duplicates</a:t>
            </a:r>
          </a:p>
          <a:p>
            <a:r>
              <a:rPr lang="en-IN" sz="2200" b="1" u="sng" dirty="0">
                <a:solidFill>
                  <a:srgbClr val="002060"/>
                </a:solidFill>
              </a:rPr>
              <a:t>Macro Buttons Text</a:t>
            </a:r>
            <a:r>
              <a:rPr lang="en-IN" sz="2200" dirty="0"/>
              <a:t>: One-click automation for sort, filter, navigate &amp; export</a:t>
            </a:r>
          </a:p>
          <a:p>
            <a:r>
              <a:rPr lang="en-IN" sz="2200" b="1" u="sng" dirty="0">
                <a:solidFill>
                  <a:srgbClr val="002060"/>
                </a:solidFill>
              </a:rPr>
              <a:t>Pivot Tables &amp; Charts Text</a:t>
            </a:r>
            <a:r>
              <a:rPr lang="en-IN" sz="2200" dirty="0"/>
              <a:t>: Interactive analysis with slicers for Department, Semester, Status</a:t>
            </a:r>
          </a:p>
          <a:p>
            <a:r>
              <a:rPr lang="en-IN" sz="2200" b="1" u="sng" dirty="0">
                <a:solidFill>
                  <a:srgbClr val="002060"/>
                </a:solidFill>
              </a:rPr>
              <a:t>Dashboard Text</a:t>
            </a:r>
            <a:r>
              <a:rPr lang="en-IN" sz="2200" dirty="0"/>
              <a:t>: Live KPIs &amp; charts summarizing the entire timetable system</a:t>
            </a:r>
          </a:p>
        </p:txBody>
      </p:sp>
    </p:spTree>
    <p:extLst>
      <p:ext uri="{BB962C8B-B14F-4D97-AF65-F5344CB8AC3E}">
        <p14:creationId xmlns:p14="http://schemas.microsoft.com/office/powerpoint/2010/main" val="1079299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CA9A6-40A5-F5C1-D751-CB4200A33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Index Sheet – Navigation with Hyperlinks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0A93A-2664-E519-370F-CD7ACD6416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IN" b="1" dirty="0"/>
              <a:t>Purpose &amp; Features</a:t>
            </a:r>
          </a:p>
          <a:p>
            <a:pPr>
              <a:spcAft>
                <a:spcPts val="500"/>
              </a:spcAft>
              <a:buSzPct val="100000"/>
            </a:pPr>
            <a:r>
              <a:rPr lang="en-US" dirty="0">
                <a:solidFill>
                  <a:srgbClr val="0D1B2A"/>
                </a:solidFill>
              </a:rPr>
              <a:t>Acts as the home page of the workbook.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</a:pPr>
            <a:r>
              <a:rPr lang="en-US" dirty="0">
                <a:solidFill>
                  <a:srgbClr val="0D1B2A"/>
                </a:solidFill>
              </a:rPr>
              <a:t>Contains clickable hyperlinks to all 8 other sheets.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</a:pPr>
            <a:r>
              <a:rPr lang="en-US" dirty="0">
                <a:solidFill>
                  <a:srgbClr val="0D1B2A"/>
                </a:solidFill>
              </a:rPr>
              <a:t>Each link uses Excel's Insert &gt; Hyperlink &gt; Place in This Document feature.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</a:pPr>
            <a:r>
              <a:rPr lang="en-US" dirty="0">
                <a:solidFill>
                  <a:srgbClr val="0D1B2A"/>
                </a:solidFill>
              </a:rPr>
              <a:t>Allows one-click navigation — no scrolling through tabs.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</a:pPr>
            <a:r>
              <a:rPr lang="en-US" dirty="0">
                <a:solidFill>
                  <a:srgbClr val="0D1B2A"/>
                </a:solidFill>
              </a:rPr>
              <a:t>Numbers 1–7 label each sheet link clearly.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</a:pPr>
            <a:r>
              <a:rPr lang="en-US" dirty="0">
                <a:solidFill>
                  <a:srgbClr val="0D1B2A"/>
                </a:solidFill>
              </a:rPr>
              <a:t>Improves usability for complex multi-sheet workbooks.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A653C852-9BBF-1D0C-7B8F-15D0E09C6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722464"/>
            <a:ext cx="5702710" cy="471802"/>
          </a:xfrm>
          <a:prstGeom prst="rect">
            <a:avLst/>
          </a:prstGeom>
          <a:solidFill>
            <a:srgbClr val="0020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dirty="0">
                <a:solidFill>
                  <a:schemeClr val="bg1"/>
                </a:solidFill>
              </a:rPr>
              <a:t>1. Raw Timetable Schedule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AFB19EF-A56C-2D39-E30E-5A7D57358EF1}"/>
              </a:ext>
            </a:extLst>
          </p:cNvPr>
          <p:cNvSpPr txBox="1">
            <a:spLocks/>
          </p:cNvSpPr>
          <p:nvPr/>
        </p:nvSpPr>
        <p:spPr>
          <a:xfrm>
            <a:off x="6170970" y="2343381"/>
            <a:ext cx="5702710" cy="471803"/>
          </a:xfrm>
          <a:prstGeom prst="rect">
            <a:avLst/>
          </a:prstGeom>
          <a:solidFill>
            <a:srgbClr val="0020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chemeClr val="bg1"/>
                </a:solidFill>
              </a:rPr>
              <a:t>2.Raw Faculty Workload</a:t>
            </a: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D7998905-1E83-1059-4B73-9B50E4CEF241}"/>
              </a:ext>
            </a:extLst>
          </p:cNvPr>
          <p:cNvSpPr txBox="1">
            <a:spLocks/>
          </p:cNvSpPr>
          <p:nvPr/>
        </p:nvSpPr>
        <p:spPr>
          <a:xfrm>
            <a:off x="6152535" y="2926432"/>
            <a:ext cx="5739581" cy="516582"/>
          </a:xfrm>
          <a:prstGeom prst="rect">
            <a:avLst/>
          </a:prstGeom>
          <a:solidFill>
            <a:srgbClr val="0020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3. Clean Timetable Schedule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8F7594C-A4F3-5D3D-040D-6F7E284AB249}"/>
              </a:ext>
            </a:extLst>
          </p:cNvPr>
          <p:cNvSpPr txBox="1">
            <a:spLocks/>
          </p:cNvSpPr>
          <p:nvPr/>
        </p:nvSpPr>
        <p:spPr>
          <a:xfrm>
            <a:off x="6152535" y="3609586"/>
            <a:ext cx="5739581" cy="464547"/>
          </a:xfrm>
          <a:prstGeom prst="rect">
            <a:avLst/>
          </a:prstGeom>
          <a:solidFill>
            <a:srgbClr val="0020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4. Clean Faculty Workload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96A6F99-B6B8-AD01-69F1-2F078FBCBF1A}"/>
              </a:ext>
            </a:extLst>
          </p:cNvPr>
          <p:cNvSpPr txBox="1">
            <a:spLocks/>
          </p:cNvSpPr>
          <p:nvPr/>
        </p:nvSpPr>
        <p:spPr>
          <a:xfrm>
            <a:off x="6168512" y="4205608"/>
            <a:ext cx="5705168" cy="479889"/>
          </a:xfrm>
          <a:prstGeom prst="rect">
            <a:avLst/>
          </a:prstGeom>
          <a:solidFill>
            <a:srgbClr val="0020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5. Timetable Pivot Table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19B285E3-0514-047B-EAA8-80DF5CF0A343}"/>
              </a:ext>
            </a:extLst>
          </p:cNvPr>
          <p:cNvSpPr txBox="1">
            <a:spLocks/>
          </p:cNvSpPr>
          <p:nvPr/>
        </p:nvSpPr>
        <p:spPr>
          <a:xfrm>
            <a:off x="6152535" y="4816972"/>
            <a:ext cx="5773993" cy="479888"/>
          </a:xfrm>
          <a:prstGeom prst="rect">
            <a:avLst/>
          </a:prstGeom>
          <a:solidFill>
            <a:srgbClr val="0020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6. Faculty Pivot Table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C0DC6B42-3308-A98E-BBB7-8AAAE25FEE7F}"/>
              </a:ext>
            </a:extLst>
          </p:cNvPr>
          <p:cNvSpPr txBox="1">
            <a:spLocks/>
          </p:cNvSpPr>
          <p:nvPr/>
        </p:nvSpPr>
        <p:spPr>
          <a:xfrm>
            <a:off x="6152534" y="5401846"/>
            <a:ext cx="5773994" cy="522083"/>
          </a:xfrm>
          <a:prstGeom prst="rect">
            <a:avLst/>
          </a:prstGeom>
          <a:solidFill>
            <a:srgbClr val="0020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7. Dashboard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1FCE8BDA-7F45-7FFB-18F9-2AB048DFC6C2}"/>
              </a:ext>
            </a:extLst>
          </p:cNvPr>
          <p:cNvSpPr txBox="1">
            <a:spLocks/>
          </p:cNvSpPr>
          <p:nvPr/>
        </p:nvSpPr>
        <p:spPr>
          <a:xfrm>
            <a:off x="6099686" y="6028915"/>
            <a:ext cx="5773994" cy="563614"/>
          </a:xfrm>
          <a:prstGeom prst="rect">
            <a:avLst/>
          </a:prstGeom>
          <a:solidFill>
            <a:srgbClr val="0020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solidFill>
                  <a:schemeClr val="bg1"/>
                </a:solidFill>
              </a:rPr>
              <a:t>8. Data Cleaning</a:t>
            </a:r>
          </a:p>
        </p:txBody>
      </p:sp>
    </p:spTree>
    <p:extLst>
      <p:ext uri="{BB962C8B-B14F-4D97-AF65-F5344CB8AC3E}">
        <p14:creationId xmlns:p14="http://schemas.microsoft.com/office/powerpoint/2010/main" val="1535885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0C188-C2BD-D52E-3097-D0255214E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142"/>
            <a:ext cx="10515600" cy="921058"/>
          </a:xfrm>
        </p:spPr>
        <p:txBody>
          <a:bodyPr/>
          <a:lstStyle/>
          <a:p>
            <a:r>
              <a:rPr lang="en-IN" b="1" dirty="0"/>
              <a:t>Raw Timetable Schedule-Source 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721914-C640-534A-9314-0AD8F19EAA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8392368"/>
              </p:ext>
            </p:extLst>
          </p:nvPr>
        </p:nvGraphicFramePr>
        <p:xfrm>
          <a:off x="471949" y="1225858"/>
          <a:ext cx="1145458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399">
                  <a:extLst>
                    <a:ext uri="{9D8B030D-6E8A-4147-A177-3AD203B41FA5}">
                      <a16:colId xmlns:a16="http://schemas.microsoft.com/office/drawing/2014/main" val="1157732870"/>
                    </a:ext>
                  </a:extLst>
                </a:gridCol>
                <a:gridCol w="1297858">
                  <a:extLst>
                    <a:ext uri="{9D8B030D-6E8A-4147-A177-3AD203B41FA5}">
                      <a16:colId xmlns:a16="http://schemas.microsoft.com/office/drawing/2014/main" val="1632190135"/>
                    </a:ext>
                  </a:extLst>
                </a:gridCol>
                <a:gridCol w="1101213">
                  <a:extLst>
                    <a:ext uri="{9D8B030D-6E8A-4147-A177-3AD203B41FA5}">
                      <a16:colId xmlns:a16="http://schemas.microsoft.com/office/drawing/2014/main" val="897491494"/>
                    </a:ext>
                  </a:extLst>
                </a:gridCol>
                <a:gridCol w="1386348">
                  <a:extLst>
                    <a:ext uri="{9D8B030D-6E8A-4147-A177-3AD203B41FA5}">
                      <a16:colId xmlns:a16="http://schemas.microsoft.com/office/drawing/2014/main" val="191903555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33168949"/>
                    </a:ext>
                  </a:extLst>
                </a:gridCol>
                <a:gridCol w="1111045">
                  <a:extLst>
                    <a:ext uri="{9D8B030D-6E8A-4147-A177-3AD203B41FA5}">
                      <a16:colId xmlns:a16="http://schemas.microsoft.com/office/drawing/2014/main" val="1591195035"/>
                    </a:ext>
                  </a:extLst>
                </a:gridCol>
                <a:gridCol w="616480">
                  <a:extLst>
                    <a:ext uri="{9D8B030D-6E8A-4147-A177-3AD203B41FA5}">
                      <a16:colId xmlns:a16="http://schemas.microsoft.com/office/drawing/2014/main" val="730995518"/>
                    </a:ext>
                  </a:extLst>
                </a:gridCol>
                <a:gridCol w="1009136">
                  <a:extLst>
                    <a:ext uri="{9D8B030D-6E8A-4147-A177-3AD203B41FA5}">
                      <a16:colId xmlns:a16="http://schemas.microsoft.com/office/drawing/2014/main" val="1179753534"/>
                    </a:ext>
                  </a:extLst>
                </a:gridCol>
                <a:gridCol w="1029094">
                  <a:extLst>
                    <a:ext uri="{9D8B030D-6E8A-4147-A177-3AD203B41FA5}">
                      <a16:colId xmlns:a16="http://schemas.microsoft.com/office/drawing/2014/main" val="1783462561"/>
                    </a:ext>
                  </a:extLst>
                </a:gridCol>
                <a:gridCol w="835742">
                  <a:extLst>
                    <a:ext uri="{9D8B030D-6E8A-4147-A177-3AD203B41FA5}">
                      <a16:colId xmlns:a16="http://schemas.microsoft.com/office/drawing/2014/main" val="1218995028"/>
                    </a:ext>
                  </a:extLst>
                </a:gridCol>
                <a:gridCol w="934065">
                  <a:extLst>
                    <a:ext uri="{9D8B030D-6E8A-4147-A177-3AD203B41FA5}">
                      <a16:colId xmlns:a16="http://schemas.microsoft.com/office/drawing/2014/main" val="2682838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Slot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Time Slot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Faculty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Is 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Conflict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762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TS0001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Tuesday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11:00-12:00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FAC1048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059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TS0002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11:00-12:00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Dist.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FAC1042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24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TS0014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Wednesday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8:00-9:00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(Blank)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Embedded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FAC1036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74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TS0030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(Blank)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8:00-9:00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CAD/CAM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FAC1013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862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TS0009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2:00-3:00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Cloud Computing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FAC1005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DUP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8476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1827F86-01B4-BED1-8453-B7825750B55E}"/>
              </a:ext>
            </a:extLst>
          </p:cNvPr>
          <p:cNvSpPr txBox="1"/>
          <p:nvPr/>
        </p:nvSpPr>
        <p:spPr>
          <a:xfrm>
            <a:off x="471949" y="4988257"/>
            <a:ext cx="11454580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F4444"/>
                </a:solidFill>
              </a:rPr>
              <a:t>Data Quality Issues Found in Raw Sheet: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</a:rPr>
              <a:t>Missing Department values in rows TS0014, TS0021, TS0055 → filled with 'Unknown' in Clean sheet</a:t>
            </a:r>
            <a:endParaRPr lang="en-US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</a:rPr>
              <a:t>Missing Day values in rows TS0030, TS0040, TS0065 → filled with 'Unknown' after cleaning</a:t>
            </a:r>
            <a:endParaRPr lang="en-US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dirty="0">
                <a:solidFill>
                  <a:srgbClr val="0D1B2A"/>
                </a:solidFill>
              </a:rPr>
              <a:t>Duplicate Slot IDs detected: TS0009, TS0016, TS0046, TS0061, TS0064, TS0084 → removed in Clean sheet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316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6B991-708B-5DF5-5185-BE2492F50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CC29-2FFF-CBE6-743E-48ED650B1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Raw faculty workload-Source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59439-30B9-5DDB-B1F5-A95DAFDD69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16 columns in faculty workload sheet, having:</a:t>
            </a:r>
          </a:p>
          <a:p>
            <a:pPr marL="342900" indent="-342900">
              <a:spcAft>
                <a:spcPts val="600"/>
              </a:spcAft>
              <a:buSzPct val="100000"/>
            </a:pPr>
            <a:r>
              <a:rPr lang="en-US" dirty="0">
                <a:solidFill>
                  <a:srgbClr val="0D1B2A"/>
                </a:solidFill>
              </a:rPr>
              <a:t>Faculty ID  |  Faculty Name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</a:pPr>
            <a:r>
              <a:rPr lang="en-US" dirty="0">
                <a:solidFill>
                  <a:srgbClr val="0D1B2A"/>
                </a:solidFill>
              </a:rPr>
              <a:t>Department  |  Designation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</a:pPr>
            <a:r>
              <a:rPr lang="en-US" dirty="0">
                <a:solidFill>
                  <a:srgbClr val="0D1B2A"/>
                </a:solidFill>
              </a:rPr>
              <a:t>Experience (yrs)  |  Subjects Assigned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</a:pPr>
            <a:r>
              <a:rPr lang="en-US" dirty="0">
                <a:solidFill>
                  <a:srgbClr val="0D1B2A"/>
                </a:solidFill>
              </a:rPr>
              <a:t>Theory Hours/Week  |  Lab Hours/Week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</a:pPr>
            <a:r>
              <a:rPr lang="en-US" dirty="0">
                <a:solidFill>
                  <a:srgbClr val="0D1B2A"/>
                </a:solidFill>
              </a:rPr>
              <a:t>Total Contact Hours  |  Max Allowed Hours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</a:pPr>
            <a:r>
              <a:rPr lang="en-US" dirty="0">
                <a:solidFill>
                  <a:srgbClr val="0D1B2A"/>
                </a:solidFill>
              </a:rPr>
              <a:t>Workload Status  |  Extra Duties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</a:pPr>
            <a:r>
              <a:rPr lang="en-US" dirty="0">
                <a:solidFill>
                  <a:srgbClr val="0D1B2A"/>
                </a:solidFill>
              </a:rPr>
              <a:t>Overload Flag  |  Semester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</a:pPr>
            <a:r>
              <a:rPr lang="en-US" dirty="0">
                <a:solidFill>
                  <a:srgbClr val="0D1B2A"/>
                </a:solidFill>
              </a:rPr>
              <a:t>Academic Year  |  Remarks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502E15-EB87-1EA5-0DCA-56FD26A0FC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B688CA8-770B-7D36-04E2-94CA5AAB0B52}"/>
              </a:ext>
            </a:extLst>
          </p:cNvPr>
          <p:cNvSpPr/>
          <p:nvPr/>
        </p:nvSpPr>
        <p:spPr>
          <a:xfrm>
            <a:off x="6449224" y="2010503"/>
            <a:ext cx="1662389" cy="939298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2000" dirty="0"/>
              <a:t>100</a:t>
            </a:r>
          </a:p>
          <a:p>
            <a:pPr algn="ctr"/>
            <a:r>
              <a:rPr lang="en-IN" sz="2000" dirty="0"/>
              <a:t>Total Faculty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04126860-B923-4ABA-E1C0-3187502BED6D}"/>
              </a:ext>
            </a:extLst>
          </p:cNvPr>
          <p:cNvSpPr/>
          <p:nvPr/>
        </p:nvSpPr>
        <p:spPr>
          <a:xfrm>
            <a:off x="8945757" y="3510293"/>
            <a:ext cx="1662389" cy="10124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2000" dirty="0"/>
              <a:t>3</a:t>
            </a:r>
          </a:p>
          <a:p>
            <a:pPr algn="ctr"/>
            <a:r>
              <a:rPr lang="en-IN" sz="2000" dirty="0"/>
              <a:t>Missing Dept records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7FA38DE2-5667-178C-60E7-867844D9816C}"/>
              </a:ext>
            </a:extLst>
          </p:cNvPr>
          <p:cNvSpPr/>
          <p:nvPr/>
        </p:nvSpPr>
        <p:spPr>
          <a:xfrm>
            <a:off x="6449224" y="3510293"/>
            <a:ext cx="1662389" cy="10124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2000" dirty="0"/>
              <a:t>20</a:t>
            </a:r>
          </a:p>
          <a:p>
            <a:pPr algn="ctr"/>
            <a:r>
              <a:rPr lang="en-IN" sz="2000" dirty="0"/>
              <a:t>Max Hours/</a:t>
            </a:r>
            <a:r>
              <a:rPr lang="en-IN" sz="2000" dirty="0" err="1"/>
              <a:t>Wk</a:t>
            </a:r>
            <a:endParaRPr lang="en-IN" sz="20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B937EEE4-113B-AFD4-27C1-2572840EE78B}"/>
              </a:ext>
            </a:extLst>
          </p:cNvPr>
          <p:cNvSpPr/>
          <p:nvPr/>
        </p:nvSpPr>
        <p:spPr>
          <a:xfrm>
            <a:off x="8945756" y="2008908"/>
            <a:ext cx="1662389" cy="93929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2000" dirty="0"/>
              <a:t>9</a:t>
            </a:r>
          </a:p>
          <a:p>
            <a:pPr algn="ctr"/>
            <a:r>
              <a:rPr lang="en-IN" sz="2000" dirty="0"/>
              <a:t>Departments</a:t>
            </a: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0DC44192-84A2-89E7-9E4A-278B1163F6ED}"/>
              </a:ext>
            </a:extLst>
          </p:cNvPr>
          <p:cNvSpPr/>
          <p:nvPr/>
        </p:nvSpPr>
        <p:spPr>
          <a:xfrm>
            <a:off x="7795381" y="5013275"/>
            <a:ext cx="1662389" cy="939298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sz="2000" dirty="0"/>
              <a:t>~14</a:t>
            </a:r>
          </a:p>
          <a:p>
            <a:pPr algn="ctr"/>
            <a:r>
              <a:rPr lang="en-IN" sz="2000" dirty="0"/>
              <a:t>Overloaded Faculty</a:t>
            </a:r>
          </a:p>
        </p:txBody>
      </p:sp>
    </p:spTree>
    <p:extLst>
      <p:ext uri="{BB962C8B-B14F-4D97-AF65-F5344CB8AC3E}">
        <p14:creationId xmlns:p14="http://schemas.microsoft.com/office/powerpoint/2010/main" val="1435194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8E8FD-0508-819E-92DE-8233D3794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297"/>
            <a:ext cx="10515600" cy="79890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Data Cleaning – Raw -&gt; Clean Transformation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A699478-0C43-9106-9A27-4191E86A81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8881364"/>
              </p:ext>
            </p:extLst>
          </p:nvPr>
        </p:nvGraphicFramePr>
        <p:xfrm>
          <a:off x="838203" y="1133204"/>
          <a:ext cx="10515597" cy="5283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28539934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5175850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61433581"/>
                    </a:ext>
                  </a:extLst>
                </a:gridCol>
              </a:tblGrid>
              <a:tr h="71172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1. Fill Missing Values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2. Remove Duplicates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3. Standardize &amp; Validate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458545"/>
                  </a:ext>
                </a:extLst>
              </a:tr>
              <a:tr h="711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</a:rPr>
                        <a:t>Blank Department → "Unknown"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</a:rPr>
                        <a:t>Duplicate Slot IDs identified in raw sheet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</a:rPr>
                        <a:t>Data Validation: dropdown lists for Day, Dept, Section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954207"/>
                  </a:ext>
                </a:extLst>
              </a:tr>
              <a:tr h="711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</a:rPr>
                        <a:t>Blank Day → "Unknown"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</a:rPr>
                        <a:t>TS0009, TS0016, TS0046, TS0061, TS0064, TS0084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</a:rPr>
                        <a:t>Time slots locked to predefined values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945181"/>
                  </a:ext>
                </a:extLst>
              </a:tr>
              <a:tr h="711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</a:rPr>
                        <a:t>Blank Workload Status → computed from hours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</a:rPr>
                        <a:t>Removed using Excel's Data → Remove Duplicates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</a:rPr>
                        <a:t>Is Lab column: only Yes/No allowed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276116"/>
                  </a:ext>
                </a:extLst>
              </a:tr>
              <a:tr h="711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</a:rPr>
                        <a:t>Blank Overload Flag → derived via IF formula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</a:rPr>
                        <a:t>Kept first occurrence; deleted subsequent copies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</a:rPr>
                        <a:t>Conflict Flag auto-flagged via COUNTIFS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072841"/>
                  </a:ext>
                </a:extLst>
              </a:tr>
              <a:tr h="711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</a:rPr>
                        <a:t>Formula: =IF(A2="","Unknown",A2)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</a:rPr>
                        <a:t>Clean sheet has unique Slot IDs only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</a:rPr>
                        <a:t>Consistent formatting across all rows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256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1945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220-F6CF-6A1C-F215-7795EEF03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Excel Formulas – VLOOKUP, IF, COUNTIF &amp; more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8F6E7-5781-31C5-7235-EC36ABB57E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1600" b="1" u="sng" dirty="0"/>
              <a:t>VLOOKUP</a:t>
            </a:r>
            <a:r>
              <a:rPr lang="en-IN" sz="1600" dirty="0"/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VLOOKUP(G2, </a:t>
            </a:r>
            <a:r>
              <a:rPr lang="en-US" sz="1600" dirty="0" err="1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Faculty_Workload!A:B</a:t>
            </a:r>
            <a:r>
              <a:rPr lang="en-US" sz="1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2, FALSE)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</a:rPr>
              <a:t>Syntax: VLOOKUP(</a:t>
            </a:r>
            <a:r>
              <a:rPr lang="en-US" sz="1600" i="1" dirty="0" err="1">
                <a:solidFill>
                  <a:srgbClr val="64748B"/>
                </a:solidFill>
              </a:rPr>
              <a:t>lookup_value</a:t>
            </a:r>
            <a:r>
              <a:rPr lang="en-US" sz="1600" i="1" dirty="0">
                <a:solidFill>
                  <a:srgbClr val="64748B"/>
                </a:solidFill>
              </a:rPr>
              <a:t>, </a:t>
            </a:r>
            <a:r>
              <a:rPr lang="en-US" sz="1600" i="1" dirty="0" err="1">
                <a:solidFill>
                  <a:srgbClr val="64748B"/>
                </a:solidFill>
              </a:rPr>
              <a:t>table_array</a:t>
            </a:r>
            <a:r>
              <a:rPr lang="en-US" sz="1600" i="1" dirty="0">
                <a:solidFill>
                  <a:srgbClr val="64748B"/>
                </a:solidFill>
              </a:rPr>
              <a:t>, </a:t>
            </a:r>
            <a:r>
              <a:rPr lang="en-US" sz="1600" i="1" dirty="0" err="1">
                <a:solidFill>
                  <a:srgbClr val="64748B"/>
                </a:solidFill>
              </a:rPr>
              <a:t>col_index</a:t>
            </a:r>
            <a:r>
              <a:rPr lang="en-US" sz="1600" i="1" dirty="0">
                <a:solidFill>
                  <a:srgbClr val="64748B"/>
                </a:solidFill>
              </a:rPr>
              <a:t>, [</a:t>
            </a:r>
            <a:r>
              <a:rPr lang="en-US" sz="1600" i="1" dirty="0" err="1">
                <a:solidFill>
                  <a:srgbClr val="64748B"/>
                </a:solidFill>
              </a:rPr>
              <a:t>exact_match</a:t>
            </a:r>
            <a:r>
              <a:rPr lang="en-US" sz="1600" i="1" dirty="0">
                <a:solidFill>
                  <a:srgbClr val="64748B"/>
                </a:solidFill>
              </a:rPr>
              <a:t>])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</a:rPr>
              <a:t>Fetches Faculty Name from </a:t>
            </a:r>
            <a:r>
              <a:rPr lang="en-US" sz="1600" dirty="0" err="1">
                <a:solidFill>
                  <a:srgbClr val="0D1B2A"/>
                </a:solidFill>
              </a:rPr>
              <a:t>Faculty_Workload</a:t>
            </a:r>
            <a:r>
              <a:rPr lang="en-US" sz="1600" dirty="0">
                <a:solidFill>
                  <a:srgbClr val="0D1B2A"/>
                </a:solidFill>
              </a:rPr>
              <a:t> sheet using Faculty ID — links timetable to faculty data without manual copy-paste.</a:t>
            </a:r>
          </a:p>
          <a:p>
            <a:r>
              <a:rPr lang="en-US" sz="1600" b="1" u="sng" dirty="0"/>
              <a:t>COUNTIFS</a:t>
            </a:r>
            <a:r>
              <a:rPr lang="en-US" sz="1600" dirty="0"/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=COUNTIFS(G:G, G2, B:B, B2, C:C, C2)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</a:rPr>
              <a:t>Syntax: COUNTIFS(range1, criteria1, range2, criteria2, ...)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</a:rPr>
              <a:t>Detects scheduling conflicts — counts how many slots share the same Faculty, Day, and Time. If &gt;1, it's a conflict.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69834-75B1-6279-54A6-02E5739727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600" b="1" u="sng" dirty="0" err="1"/>
              <a:t>IF+Nested</a:t>
            </a:r>
            <a:r>
              <a:rPr lang="en-US" sz="1600" dirty="0"/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=IF(I2&gt;J2, "Overloaded", IF(I2=J2, "At Limit", "Normal"))</a:t>
            </a:r>
            <a:endParaRPr lang="en-US" sz="1600" dirty="0"/>
          </a:p>
          <a:p>
            <a:pPr marL="0" indent="0" algn="l" rtl="0" eaLnBrk="1" latinLnBrk="0" hangingPunct="1">
              <a:buNone/>
            </a:pPr>
            <a:r>
              <a:rPr lang="en-US" sz="1600" i="1" kern="1200" dirty="0">
                <a:solidFill>
                  <a:srgbClr val="64748B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Syntax: IF(condition, </a:t>
            </a:r>
            <a:r>
              <a:rPr lang="en-US" sz="1600" i="1" kern="1200" dirty="0" err="1">
                <a:solidFill>
                  <a:srgbClr val="64748B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value_if_true</a:t>
            </a:r>
            <a:r>
              <a:rPr lang="en-US" sz="1600" i="1" kern="1200" dirty="0">
                <a:solidFill>
                  <a:srgbClr val="64748B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lang="en-US" sz="1600" i="1" kern="1200" dirty="0" err="1">
                <a:solidFill>
                  <a:srgbClr val="64748B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value_if_false</a:t>
            </a:r>
            <a:r>
              <a:rPr lang="en-US" sz="1600" i="1" kern="1200" dirty="0">
                <a:solidFill>
                  <a:srgbClr val="64748B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)</a:t>
            </a:r>
            <a:endParaRPr lang="en-IN" sz="1100" dirty="0">
              <a:effectLst/>
            </a:endParaRPr>
          </a:p>
          <a:p>
            <a:pPr marL="0" indent="0" algn="l" rtl="0" eaLnBrk="1" latinLnBrk="0" hangingPunct="1">
              <a:buNone/>
            </a:pPr>
            <a:r>
              <a:rPr lang="en-US" sz="1600" kern="1200" dirty="0">
                <a:solidFill>
                  <a:srgbClr val="0D1B2A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Classifies Workload Status based on Total Contact Hours vs Max Allowed Hours — automates the status column.</a:t>
            </a:r>
            <a:endParaRPr lang="en-IN" sz="1100" dirty="0">
              <a:effectLst/>
            </a:endParaRPr>
          </a:p>
          <a:p>
            <a:r>
              <a:rPr lang="en-IN" sz="1600" b="1" u="sng" dirty="0"/>
              <a:t>Fill Missing</a:t>
            </a:r>
            <a:r>
              <a:rPr lang="en-IN" sz="1600" dirty="0"/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=IF(D2="", "Unknown", D2)</a:t>
            </a:r>
            <a:endParaRPr lang="en-US" sz="1600" dirty="0"/>
          </a:p>
          <a:p>
            <a:pPr marL="0" indent="0" algn="l" rtl="0" eaLnBrk="1" latinLnBrk="0" hangingPunct="1">
              <a:buNone/>
            </a:pPr>
            <a:r>
              <a:rPr lang="en-US" sz="1600" i="1" kern="1200" dirty="0">
                <a:solidFill>
                  <a:srgbClr val="64748B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Syntax: IF(cell="", </a:t>
            </a:r>
            <a:r>
              <a:rPr lang="en-US" sz="1600" i="1" kern="1200" dirty="0" err="1">
                <a:solidFill>
                  <a:srgbClr val="64748B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default_value</a:t>
            </a:r>
            <a:r>
              <a:rPr lang="en-US" sz="1600" i="1" kern="1200" dirty="0">
                <a:solidFill>
                  <a:srgbClr val="64748B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, cell)</a:t>
            </a:r>
            <a:endParaRPr lang="en-IN" sz="1100" dirty="0">
              <a:effectLst/>
            </a:endParaRPr>
          </a:p>
          <a:p>
            <a:pPr marL="0" indent="0">
              <a:buNone/>
            </a:pPr>
            <a:r>
              <a:rPr lang="en-US" sz="1600" kern="1200" dirty="0">
                <a:solidFill>
                  <a:srgbClr val="0D1B2A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Fills blank Department cells with 'Unknown' in the clean sheet, ensuring no empty cells break pivot tables or formulas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90147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101A1EB-4457-2465-D3B2-88BC4BD9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validation and conditional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DFF1E-1E54-E728-31D1-8E78E0D2E7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u="sng" dirty="0"/>
              <a:t>Data </a:t>
            </a:r>
            <a:r>
              <a:rPr lang="en-IN" sz="1800" b="1" u="sng" dirty="0" err="1"/>
              <a:t>Vaidation</a:t>
            </a:r>
            <a:endParaRPr lang="en-IN" sz="1800" b="1" u="sng" dirty="0"/>
          </a:p>
          <a:p>
            <a:r>
              <a:rPr lang="en-IN" sz="1800" u="sng" dirty="0">
                <a:solidFill>
                  <a:srgbClr val="00B050"/>
                </a:solidFill>
              </a:rPr>
              <a:t>Dropdown</a:t>
            </a:r>
            <a:r>
              <a:rPr lang="en-IN" sz="1800" dirty="0"/>
              <a:t> — Section: List: A, B, C, D</a:t>
            </a:r>
          </a:p>
          <a:p>
            <a:r>
              <a:rPr lang="en-IN" sz="1800" u="sng" dirty="0">
                <a:solidFill>
                  <a:srgbClr val="00B050"/>
                </a:solidFill>
              </a:rPr>
              <a:t>Dropdown</a:t>
            </a:r>
            <a:r>
              <a:rPr lang="en-IN" sz="1800" dirty="0"/>
              <a:t> — Is Lab: List: Yes, No</a:t>
            </a:r>
          </a:p>
          <a:p>
            <a:r>
              <a:rPr lang="en-IN" sz="1800" u="sng" dirty="0">
                <a:solidFill>
                  <a:srgbClr val="C00000"/>
                </a:solidFill>
              </a:rPr>
              <a:t>Numeric</a:t>
            </a:r>
            <a:r>
              <a:rPr lang="en-IN" sz="1800" dirty="0"/>
              <a:t> — Duration (hrs): Whole Number between 1 and 4</a:t>
            </a:r>
          </a:p>
          <a:p>
            <a:r>
              <a:rPr lang="en-IN" sz="1800" u="sng" dirty="0">
                <a:solidFill>
                  <a:srgbClr val="C00000"/>
                </a:solidFill>
              </a:rPr>
              <a:t>Numeric</a:t>
            </a:r>
            <a:r>
              <a:rPr lang="en-IN" sz="1800" dirty="0"/>
              <a:t> — Semester: Whole Number between 1 and 8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1D3301-D4B3-155E-183A-3FD2EC651C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u="sng" dirty="0"/>
              <a:t>Conditional Formatting</a:t>
            </a:r>
          </a:p>
          <a:p>
            <a:r>
              <a:rPr lang="en-US" sz="1800" u="sng" dirty="0">
                <a:solidFill>
                  <a:srgbClr val="FF0000"/>
                </a:solidFill>
              </a:rPr>
              <a:t>Conflict Flag </a:t>
            </a:r>
            <a:r>
              <a:rPr lang="en-US" sz="1800" dirty="0"/>
              <a:t>= Yes — Red row highlight on scheduling conflicts</a:t>
            </a:r>
          </a:p>
          <a:p>
            <a:r>
              <a:rPr lang="en-US" sz="1800" u="sng" dirty="0">
                <a:solidFill>
                  <a:srgbClr val="FF0000"/>
                </a:solidFill>
              </a:rPr>
              <a:t>Overloaded Faculty </a:t>
            </a:r>
            <a:r>
              <a:rPr lang="en-US" sz="1800" dirty="0"/>
              <a:t>— Red highlight when Total Hours &gt; Max Allowed</a:t>
            </a:r>
          </a:p>
          <a:p>
            <a:r>
              <a:rPr lang="en-US" sz="1800" u="sng" dirty="0">
                <a:solidFill>
                  <a:srgbClr val="00B050"/>
                </a:solidFill>
              </a:rPr>
              <a:t>Normal Workload </a:t>
            </a:r>
            <a:r>
              <a:rPr lang="en-US" sz="1800" dirty="0"/>
              <a:t>— Nothing when Total Hours = Max Allowed</a:t>
            </a:r>
          </a:p>
          <a:p>
            <a:r>
              <a:rPr lang="en-US" sz="1800" u="sng" dirty="0">
                <a:solidFill>
                  <a:schemeClr val="accent4">
                    <a:lumMod val="75000"/>
                  </a:schemeClr>
                </a:solidFill>
              </a:rPr>
              <a:t>Underloaded Faculty </a:t>
            </a:r>
            <a:r>
              <a:rPr lang="en-US" sz="1800" dirty="0"/>
              <a:t>— Amber highlight when Total Hours &lt; Max Allowed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39998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052D9-913C-9014-E2E0-903BD92B2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Macros and automation buttons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BA2A8-224A-E518-A7AF-088A2A160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479" y="1845734"/>
            <a:ext cx="4937760" cy="402336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spcAft>
                <a:spcPts val="500"/>
              </a:spcAft>
              <a:buSzPct val="100000"/>
            </a:pPr>
            <a:r>
              <a:rPr lang="en-US" sz="2300" dirty="0">
                <a:solidFill>
                  <a:srgbClr val="0D1B2A"/>
                </a:solidFill>
              </a:rPr>
              <a:t>Macros are recorded VBA (Visual Basic for Applications) scripts embedded in Excel.</a:t>
            </a:r>
            <a:endParaRPr lang="en-US" sz="2300" dirty="0"/>
          </a:p>
          <a:p>
            <a:pPr marL="342900" indent="-342900">
              <a:spcAft>
                <a:spcPts val="500"/>
              </a:spcAft>
              <a:buSzPct val="100000"/>
            </a:pPr>
            <a:r>
              <a:rPr lang="en-US" sz="2300" dirty="0">
                <a:solidFill>
                  <a:srgbClr val="0D1B2A"/>
                </a:solidFill>
              </a:rPr>
              <a:t>They automate repetitive tasks with a single button click.</a:t>
            </a:r>
            <a:endParaRPr lang="en-US" sz="2300" dirty="0"/>
          </a:p>
          <a:p>
            <a:pPr marL="342900" indent="-342900">
              <a:spcAft>
                <a:spcPts val="500"/>
              </a:spcAft>
              <a:buSzPct val="100000"/>
            </a:pPr>
            <a:r>
              <a:rPr lang="en-US" sz="2300" dirty="0">
                <a:solidFill>
                  <a:srgbClr val="0D1B2A"/>
                </a:solidFill>
              </a:rPr>
              <a:t>Stored in .</a:t>
            </a:r>
            <a:r>
              <a:rPr lang="en-US" sz="2300" dirty="0" err="1">
                <a:solidFill>
                  <a:srgbClr val="0D1B2A"/>
                </a:solidFill>
              </a:rPr>
              <a:t>xlsm</a:t>
            </a:r>
            <a:r>
              <a:rPr lang="en-US" sz="2300" dirty="0">
                <a:solidFill>
                  <a:srgbClr val="0D1B2A"/>
                </a:solidFill>
              </a:rPr>
              <a:t> (macro-enabled) format.</a:t>
            </a:r>
            <a:endParaRPr lang="en-US" sz="2300" dirty="0"/>
          </a:p>
          <a:p>
            <a:pPr marL="342900" indent="-342900">
              <a:spcAft>
                <a:spcPts val="500"/>
              </a:spcAft>
              <a:buSzPct val="100000"/>
            </a:pPr>
            <a:r>
              <a:rPr lang="en-US" sz="2300" dirty="0">
                <a:solidFill>
                  <a:srgbClr val="0D1B2A"/>
                </a:solidFill>
              </a:rPr>
              <a:t>Can sort, filter, clear, format, or navigate sheets automatically.</a:t>
            </a:r>
            <a:endParaRPr lang="en-US" sz="2300" dirty="0"/>
          </a:p>
          <a:p>
            <a:pPr marL="342900" indent="-342900">
              <a:spcAft>
                <a:spcPts val="500"/>
              </a:spcAft>
              <a:buSzPct val="100000"/>
            </a:pPr>
            <a:r>
              <a:rPr lang="en-US" sz="2300" dirty="0">
                <a:solidFill>
                  <a:srgbClr val="0D1B2A"/>
                </a:solidFill>
              </a:rPr>
              <a:t>Buttons are inserted via Developer tab → Insert → Form Control → Button, then assigned a macro.</a:t>
            </a:r>
            <a:endParaRPr lang="en-US" sz="2300" dirty="0"/>
          </a:p>
          <a:p>
            <a:pPr marL="342900" indent="-342900">
              <a:spcAft>
                <a:spcPts val="500"/>
              </a:spcAft>
              <a:buSzPct val="100000"/>
            </a:pPr>
            <a:r>
              <a:rPr lang="en-US" sz="2300" dirty="0">
                <a:solidFill>
                  <a:srgbClr val="0D1B2A"/>
                </a:solidFill>
              </a:rPr>
              <a:t>Each button in this workbook triggers a specific VBA Sub procedure.</a:t>
            </a:r>
            <a:endParaRPr lang="en-US" sz="2300" dirty="0"/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D617852-BBE0-7374-98F4-94FEE04CED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140" y="2327069"/>
            <a:ext cx="6079287" cy="257922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329064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B2B7-83E3-F959-26E2-56DD553B0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Pivot tables: Timetable and Faculty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40FBE-EABE-023D-5D3D-AD6BB88901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accent1">
                    <a:lumMod val="50000"/>
                  </a:schemeClr>
                </a:solidFill>
              </a:rPr>
              <a:t>Timetable Pivot Table</a:t>
            </a:r>
          </a:p>
          <a:p>
            <a:r>
              <a:rPr lang="en-IN" sz="1800" dirty="0"/>
              <a:t>ROWS — Department, Day</a:t>
            </a:r>
          </a:p>
          <a:p>
            <a:r>
              <a:rPr lang="en-IN" sz="1800" dirty="0"/>
              <a:t>COLUMNS — Is Lab</a:t>
            </a:r>
          </a:p>
          <a:p>
            <a:r>
              <a:rPr lang="en-IN" sz="1800" dirty="0"/>
              <a:t>VALUES — Count of Slot IDs</a:t>
            </a:r>
          </a:p>
          <a:p>
            <a:r>
              <a:rPr lang="en-IN" sz="1800" dirty="0"/>
              <a:t>FILTERS — Semester, Section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dirty="0">
                <a:solidFill>
                  <a:schemeClr val="accent1">
                    <a:lumMod val="50000"/>
                  </a:schemeClr>
                </a:solidFill>
              </a:rPr>
              <a:t>Key Insights:</a:t>
            </a:r>
          </a:p>
          <a:p>
            <a:r>
              <a:rPr lang="en-IN" sz="1800" dirty="0"/>
              <a:t>Shows how many slots each dept has per day</a:t>
            </a:r>
          </a:p>
          <a:p>
            <a:r>
              <a:rPr lang="en-IN" sz="1800" dirty="0"/>
              <a:t>Separates theory vs lab sessions</a:t>
            </a:r>
          </a:p>
          <a:p>
            <a:r>
              <a:rPr lang="en-IN" sz="1800" dirty="0"/>
              <a:t>Identifies busiest days for each department</a:t>
            </a:r>
          </a:p>
          <a:p>
            <a:r>
              <a:rPr lang="en-IN" sz="1800" dirty="0"/>
              <a:t>Filter by semester to see specific workload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77903-380B-95DF-0435-0103BA2970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Faculty Pivot Table</a:t>
            </a:r>
          </a:p>
          <a:p>
            <a:r>
              <a:rPr lang="en-US" sz="1800" dirty="0"/>
              <a:t>ROWS — Department, Designation</a:t>
            </a:r>
          </a:p>
          <a:p>
            <a:r>
              <a:rPr lang="en-US" sz="1800" dirty="0"/>
              <a:t>COLUMNS — Workload Status</a:t>
            </a:r>
          </a:p>
          <a:p>
            <a:r>
              <a:rPr lang="en-US" sz="1800" dirty="0"/>
              <a:t>VALUES — Average Total Contact Hours</a:t>
            </a:r>
          </a:p>
          <a:p>
            <a:r>
              <a:rPr lang="en-US" sz="1800" dirty="0"/>
              <a:t>FILTERS — Semester, Academic Year</a:t>
            </a:r>
          </a:p>
          <a:p>
            <a:pPr marL="0" indent="0">
              <a:buNone/>
            </a:pPr>
            <a:br>
              <a:rPr lang="en-US" sz="1800" dirty="0"/>
            </a:br>
            <a:r>
              <a:rPr lang="en-US" sz="1800" b="1" dirty="0">
                <a:solidFill>
                  <a:srgbClr val="C00000"/>
                </a:solidFill>
              </a:rPr>
              <a:t>Key Insights:</a:t>
            </a:r>
          </a:p>
          <a:p>
            <a:r>
              <a:rPr lang="en-US" sz="1800" dirty="0"/>
              <a:t>Compares avg workload across departments</a:t>
            </a:r>
          </a:p>
          <a:p>
            <a:r>
              <a:rPr lang="en-US" sz="1800" dirty="0"/>
              <a:t>Breaks down by designation (Prof, Lecturer, etc.)</a:t>
            </a:r>
          </a:p>
          <a:p>
            <a:r>
              <a:rPr lang="en-US" sz="1800" dirty="0"/>
              <a:t>Identifies overloaded departments at a glance</a:t>
            </a:r>
          </a:p>
          <a:p>
            <a:r>
              <a:rPr lang="en-US" sz="1800" dirty="0"/>
              <a:t>Academic Year filter for trend comparison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40661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18745-B4D0-0065-2833-D224EEB1C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Pivot tables, charts &amp; slicers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A8B02-3A5F-D745-E6F7-975389DB63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Timetable Pivot</a:t>
            </a:r>
            <a:r>
              <a:rPr lang="en-US" dirty="0"/>
              <a:t>:</a:t>
            </a:r>
            <a:endParaRPr lang="en-US" b="1" u="sng" dirty="0"/>
          </a:p>
          <a:p>
            <a:r>
              <a:rPr lang="en-US" dirty="0"/>
              <a:t>Pivot table &amp; chart consists of no. of cumulative </a:t>
            </a:r>
            <a:r>
              <a:rPr lang="en-US" dirty="0" err="1"/>
              <a:t>hrs</a:t>
            </a:r>
            <a:r>
              <a:rPr lang="en-US" dirty="0"/>
              <a:t> a subject gets, filtered by Department.</a:t>
            </a:r>
          </a:p>
          <a:p>
            <a:r>
              <a:rPr lang="en-US" dirty="0"/>
              <a:t>Slicer slices pivot data according to Weekdays.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FD0FA1-C82D-A4CB-7C4F-54F95D93A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6963" y="1833171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/>
              <a:t>Faculty Pivot</a:t>
            </a:r>
            <a:r>
              <a:rPr lang="en-US" dirty="0"/>
              <a:t>:</a:t>
            </a:r>
          </a:p>
          <a:p>
            <a:r>
              <a:rPr lang="en-IN" dirty="0"/>
              <a:t>Pivot table and chart consists of cumulative contact hrs of a faculty, filtered by Department.</a:t>
            </a:r>
          </a:p>
          <a:p>
            <a:r>
              <a:rPr lang="en-IN" dirty="0"/>
              <a:t>Slicer slices the pivot data according to faculty designation &amp; workload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BDF3B-3DEF-9A88-5C36-A7237EE42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" y="3910013"/>
            <a:ext cx="4395789" cy="21288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D6F51F-043C-952C-B12F-73DA6F99E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3857414"/>
            <a:ext cx="5067203" cy="207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4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02C07-56E1-89CD-6607-8D769BB64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Dashboard- unified &amp; visual summary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226FA-CAAC-A7A8-E6D6-5584074CE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Dashboard pulls live data from pivot tables — all charts &amp; KPIs update automatically when source data changes.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BE7FB1-9FFC-8199-E28E-9E41AA292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977" y="2621310"/>
            <a:ext cx="7588046" cy="414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91615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353</TotalTime>
  <Words>1253</Words>
  <Application>Microsoft Office PowerPoint</Application>
  <PresentationFormat>Widescreen</PresentationFormat>
  <Paragraphs>210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Retrospect</vt:lpstr>
      <vt:lpstr>Smart Timetable Generator &amp; Workload Manager </vt:lpstr>
      <vt:lpstr>Project Summary</vt:lpstr>
      <vt:lpstr>Index Sheet – Navigation with Hyperlinks</vt:lpstr>
      <vt:lpstr>Raw Timetable Schedule-Source Data</vt:lpstr>
      <vt:lpstr>Raw faculty workload-Source data</vt:lpstr>
      <vt:lpstr>Data Cleaning – Raw -&gt; Clean Transformation</vt:lpstr>
      <vt:lpstr>Excel Formulas – VLOOKUP, IF, COUNTIF &amp; more</vt:lpstr>
      <vt:lpstr>Data validation and conditional formatting</vt:lpstr>
      <vt:lpstr>Macros and automation buttons</vt:lpstr>
      <vt:lpstr>Pivot tables: Timetable and Faculty analysis</vt:lpstr>
      <vt:lpstr>Pivot tables, charts &amp; slicers</vt:lpstr>
      <vt:lpstr>Dashboard- unified &amp; visual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SAYAR SEKHAR GHOSH</dc:creator>
  <cp:lastModifiedBy>Anudip</cp:lastModifiedBy>
  <cp:revision>8</cp:revision>
  <dcterms:created xsi:type="dcterms:W3CDTF">2026-05-19T06:37:33Z</dcterms:created>
  <dcterms:modified xsi:type="dcterms:W3CDTF">2026-05-20T05:34:30Z</dcterms:modified>
</cp:coreProperties>
</file>