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Room Utilization % by Room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%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32-470B-BC8D-70CE0004670E}"/>
              </c:ext>
            </c:extLst>
          </c:dPt>
          <c:dPt>
            <c:idx val="1"/>
            <c:invertIfNegative val="0"/>
            <c:bubble3D val="0"/>
            <c:spPr>
              <a:solidFill>
                <a:srgbClr val="14AF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32-470B-BC8D-70CE0004670E}"/>
              </c:ext>
            </c:extLst>
          </c:dPt>
          <c:dPt>
            <c:idx val="2"/>
            <c:invertIfNegative val="0"/>
            <c:bubble3D val="0"/>
            <c:spPr>
              <a:solidFill>
                <a:srgbClr val="32E0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32-470B-BC8D-70CE0004670E}"/>
              </c:ext>
            </c:extLst>
          </c:dPt>
          <c:dPt>
            <c:idx val="3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932-470B-BC8D-70CE0004670E}"/>
              </c:ext>
            </c:extLst>
          </c:dPt>
          <c:dPt>
            <c:idx val="4"/>
            <c:invertIfNegative val="0"/>
            <c:bubble3D val="0"/>
            <c:spPr>
              <a:solidFill>
                <a:srgbClr val="14AF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932-470B-BC8D-70CE0004670E}"/>
              </c:ext>
            </c:extLst>
          </c:dPt>
          <c:dPt>
            <c:idx val="5"/>
            <c:invertIfNegative val="0"/>
            <c:bubble3D val="0"/>
            <c:spPr>
              <a:solidFill>
                <a:srgbClr val="32E0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932-470B-BC8D-70CE0004670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R101</c:v>
                </c:pt>
                <c:pt idx="1">
                  <c:v>R102</c:v>
                </c:pt>
                <c:pt idx="2">
                  <c:v>R103</c:v>
                </c:pt>
                <c:pt idx="3">
                  <c:v>Lab1</c:v>
                </c:pt>
                <c:pt idx="4">
                  <c:v>Lab2</c:v>
                </c:pt>
                <c:pt idx="5">
                  <c:v>Hall 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72</c:v>
                </c:pt>
                <c:pt idx="2">
                  <c:v>60</c:v>
                </c:pt>
                <c:pt idx="3">
                  <c:v>91</c:v>
                </c:pt>
                <c:pt idx="4">
                  <c:v>78</c:v>
                </c:pt>
                <c:pt idx="5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932-470B-BC8D-70CE000467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93B"/>
                </a:solidFill>
                <a:latin typeface="Arial"/>
              </a:rPr>
              <a:t>Faculty Weekly Load (Periods)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Periods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Dr. Rao</c:v>
                </c:pt>
                <c:pt idx="1">
                  <c:v>Ms. Sharma</c:v>
                </c:pt>
                <c:pt idx="2">
                  <c:v>Mr. Kumar</c:v>
                </c:pt>
                <c:pt idx="3">
                  <c:v>Dr. Patel</c:v>
                </c:pt>
                <c:pt idx="4">
                  <c:v>Ms. Nair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15</c:v>
                </c:pt>
                <c:pt idx="3">
                  <c:v>20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39-4D08-881B-8023346073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93B"/>
                </a:solidFill>
                <a:latin typeface="Arial"/>
              </a:rPr>
              <a:t>Room Usage by Type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Room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5F5-46D9-A447-218F3D27132F}"/>
              </c:ext>
            </c:extLst>
          </c:dPt>
          <c:dPt>
            <c:idx val="1"/>
            <c:bubble3D val="0"/>
            <c:spPr>
              <a:solidFill>
                <a:srgbClr val="14AF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F5-46D9-A447-218F3D27132F}"/>
              </c:ext>
            </c:extLst>
          </c:dPt>
          <c:dPt>
            <c:idx val="2"/>
            <c:bubble3D val="0"/>
            <c:spPr>
              <a:solidFill>
                <a:srgbClr val="32E0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F5-46D9-A447-218F3D27132F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5F5-46D9-A447-218F3D27132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F5-46D9-A447-218F3D27132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F5-46D9-A447-218F3D27132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F5-46D9-A447-218F3D27132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5F5-46D9-A447-218F3D27132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Lecture Halls</c:v>
                </c:pt>
                <c:pt idx="1">
                  <c:v>Labs</c:v>
                </c:pt>
                <c:pt idx="2">
                  <c:v>Seminar Rooms</c:v>
                </c:pt>
                <c:pt idx="3">
                  <c:v>Smart Classrooms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28</c:v>
                </c:pt>
                <c:pt idx="2">
                  <c:v>12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F5-46D9-A447-218F3D271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35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01168" y="3200400"/>
            <a:ext cx="8942832" cy="19431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589520" y="201168"/>
            <a:ext cx="1325880" cy="658368"/>
          </a:xfrm>
          <a:prstGeom prst="rect">
            <a:avLst/>
          </a:prstGeom>
          <a:solidFill>
            <a:srgbClr val="17354D"/>
          </a:solidFill>
          <a:ln w="1905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8FAD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&amp;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Manager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B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Excel-Based Academic Scheduling Solution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572768" cy="420624"/>
          </a:xfrm>
          <a:prstGeom prst="rect">
            <a:avLst/>
          </a:prstGeom>
          <a:solidFill>
            <a:srgbClr val="0A5D61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Validation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76272" y="3337560"/>
            <a:ext cx="1572768" cy="420624"/>
          </a:xfrm>
          <a:prstGeom prst="rect">
            <a:avLst/>
          </a:prstGeom>
          <a:solidFill>
            <a:srgbClr val="0A5D61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176272" y="333756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Charts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95344" y="3337560"/>
            <a:ext cx="1572768" cy="420624"/>
          </a:xfrm>
          <a:prstGeom prst="rect">
            <a:avLst/>
          </a:prstGeom>
          <a:solidFill>
            <a:srgbClr val="0A5D61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95344" y="333756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 Macros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614416" y="3337560"/>
            <a:ext cx="1572768" cy="420624"/>
          </a:xfrm>
          <a:prstGeom prst="rect">
            <a:avLst/>
          </a:prstGeom>
          <a:solidFill>
            <a:srgbClr val="0A5D61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14416" y="333756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Dashboard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33488" y="3337560"/>
            <a:ext cx="1572768" cy="420624"/>
          </a:xfrm>
          <a:prstGeom prst="rect">
            <a:avLst/>
          </a:prstGeom>
          <a:solidFill>
            <a:srgbClr val="0A5D61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33488" y="333756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Filters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BAABD"/>
                </a:solidFill>
              </a:rPr>
              <a:t>Microsoft Excel  |  Advanced VBA  |  Pivot Analytics</a:t>
            </a:r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9BDBFC-1C58-2BC6-DABB-C0505F459169}"/>
              </a:ext>
            </a:extLst>
          </p:cNvPr>
          <p:cNvSpPr txBox="1"/>
          <p:nvPr/>
        </p:nvSpPr>
        <p:spPr>
          <a:xfrm>
            <a:off x="6018517" y="3733978"/>
            <a:ext cx="314200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Presented by: </a:t>
            </a:r>
          </a:p>
          <a:p>
            <a:r>
              <a:rPr lang="en-US" dirty="0"/>
              <a:t>Antara Pal</a:t>
            </a:r>
          </a:p>
          <a:p>
            <a:r>
              <a:rPr lang="en-US" dirty="0"/>
              <a:t>Sayar Sekhar Ghosh</a:t>
            </a:r>
            <a:endParaRPr lang="en-IN" dirty="0"/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995869-E1C2-4DEA-E798-AC1609483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182880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— Index Sheet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navigation hub with hyperlinks to every module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64008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Faculty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4081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unprocessed faculty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80560" y="1005840"/>
            <a:ext cx="6400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Faculty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4081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Trimmed, deduplicated, validated records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64008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Timetable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3225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schedule entries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19202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80560" y="1920240"/>
            <a:ext cx="6400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1772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Timetable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23225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Parsed, formatted timetable table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6400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Utilization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236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Room-wise occupancy &amp; availability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28346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480560" y="2834640"/>
            <a:ext cx="64008" cy="8046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1772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Entry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3236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form for adding new schedules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7490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64008" cy="804672"/>
          </a:xfrm>
          <a:prstGeom prst="rect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1148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Charts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1513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Auto-refreshing pivot tables &amp; charts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80560" y="37490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480560" y="3749040"/>
            <a:ext cx="64008" cy="8046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1772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17720" y="41513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 with slicers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7377"/>
                </a:solidFill>
              </a:rPr>
              <a:t>💡 Each sheet card is hyperlinked in the Excel Index — one click to navigate.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0C5FD72-5C83-53A6-4CD8-98DA48A53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95059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1C668E-AFC7-5112-C8F5-D18213EAA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129307"/>
              </p:ext>
            </p:extLst>
          </p:nvPr>
        </p:nvGraphicFramePr>
        <p:xfrm>
          <a:off x="482600" y="789818"/>
          <a:ext cx="8178800" cy="4127222"/>
        </p:xfrm>
        <a:graphic>
          <a:graphicData uri="http://schemas.openxmlformats.org/drawingml/2006/table">
            <a:tbl>
              <a:tblPr/>
              <a:tblGrid>
                <a:gridCol w="538563">
                  <a:extLst>
                    <a:ext uri="{9D8B030D-6E8A-4147-A177-3AD203B41FA5}">
                      <a16:colId xmlns:a16="http://schemas.microsoft.com/office/drawing/2014/main" val="3697644649"/>
                    </a:ext>
                  </a:extLst>
                </a:gridCol>
                <a:gridCol w="2160457">
                  <a:extLst>
                    <a:ext uri="{9D8B030D-6E8A-4147-A177-3AD203B41FA5}">
                      <a16:colId xmlns:a16="http://schemas.microsoft.com/office/drawing/2014/main" val="1315744765"/>
                    </a:ext>
                  </a:extLst>
                </a:gridCol>
                <a:gridCol w="3371058">
                  <a:extLst>
                    <a:ext uri="{9D8B030D-6E8A-4147-A177-3AD203B41FA5}">
                      <a16:colId xmlns:a16="http://schemas.microsoft.com/office/drawing/2014/main" val="4028980573"/>
                    </a:ext>
                  </a:extLst>
                </a:gridCol>
                <a:gridCol w="2108722">
                  <a:extLst>
                    <a:ext uri="{9D8B030D-6E8A-4147-A177-3AD203B41FA5}">
                      <a16:colId xmlns:a16="http://schemas.microsoft.com/office/drawing/2014/main" val="3234167584"/>
                    </a:ext>
                  </a:extLst>
                </a:gridCol>
              </a:tblGrid>
              <a:tr h="655587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3900" b="0" i="0" u="none" strike="noStrike" dirty="0">
                          <a:solidFill>
                            <a:srgbClr val="F2F2F2"/>
                          </a:solidFill>
                          <a:effectLst/>
                          <a:latin typeface="Calibri" panose="020F0502020204030204" pitchFamily="34" charset="0"/>
                        </a:rPr>
                        <a:t>Data Cleaning Techniques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497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36578"/>
                  </a:ext>
                </a:extLst>
              </a:tr>
              <a:tr h="6059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Sl. No.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Common Problems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Excel Function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744659"/>
                  </a:ext>
                </a:extLst>
              </a:tr>
              <a:tr h="5314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Remove Duplicates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Repeated rows inflate totals in PivotTables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COUNTIF, Remove Duplicates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324753"/>
                  </a:ext>
                </a:extLst>
              </a:tr>
              <a:tr h="3327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Trim Extra Spaces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Spaces cause LOOKUP mismatches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TRIM, CLEAN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281834"/>
                  </a:ext>
                </a:extLst>
              </a:tr>
              <a:tr h="6059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Convert numbers stored as text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Causes type mismatch error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037450"/>
                  </a:ext>
                </a:extLst>
              </a:tr>
              <a:tr h="3327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Handle Missing Values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Blanks cause formula errors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IF, ISBLANK, IFERROR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942658"/>
                  </a:ext>
                </a:extLst>
              </a:tr>
              <a:tr h="5314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Remove Blank rows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Blank rows cause formula errors, improper spill errors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ISBLANK, delete rows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930337"/>
                  </a:ext>
                </a:extLst>
              </a:tr>
              <a:tr h="5314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Adjust Column, Row sizes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Improper sizes look unprofessional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Format, Autofit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09079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8997202-E2A5-03B9-56FE-0257DE2A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142" y="27076"/>
            <a:ext cx="19621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Faculty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unprocessed data — before cleaning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87552"/>
          <a:ext cx="7315200" cy="25603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(Yrs)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Dr. Rao 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Ph.D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Ms. Sharma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Asst. Prof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Mr.  Kumar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Dr. Rao 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Ph.D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56032" y="3767328"/>
            <a:ext cx="182880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56032" y="3767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1C1C"/>
                </a:solidFill>
              </a:rPr>
              <a:t>⚠ Blank rows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50592" y="3767328"/>
            <a:ext cx="182880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450592" y="3767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1C1C"/>
                </a:solidFill>
              </a:rPr>
              <a:t>⚠ Extra spaces in names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029200" y="3767328"/>
            <a:ext cx="182880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029200" y="3767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1C1C"/>
                </a:solidFill>
              </a:rPr>
              <a:t>⚠ Empty cells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858000" y="3767328"/>
            <a:ext cx="182880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858000" y="3767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1C1C"/>
                </a:solidFill>
              </a:rPr>
              <a:t>⚠ Duplicate records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56032" y="425196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Highlighted rows show blank entries (red) and duplicate records (yellow) identified before cleaning.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880B53-333A-B716-6B95-B35621BF1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81343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Data Cleaning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transformation applied to raw faculty 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10789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Remove Blank Rows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4447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column with AND(ISBLANK(range)) → Find True values → Delete entire rows → Delete helper column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73168" y="1097280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73168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10789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Trim &amp; Substitute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14447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=TRIM(Name) removes extra spaces from Name &amp; Designation; =SUBSTITUTE(Dept," ","") cleans Department codes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" y="23134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Fill Missing Values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6791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=IF(ISBLANK(E3),"Unknown",E3) fills blank Qualification, Designation and Department cells with 'Unknown'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73168" y="2331720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73168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23134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Standardize Academic Year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26791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converted from '2023-24' format to numeric '2023' for consistency in pivot calculations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345643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" y="35478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Remove Duplicates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913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Remove Duplicates applied on key columns (Emp ID, Name) to ensure each faculty appears once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45643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73168" y="3566160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73168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35478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Format, Table &amp; Borders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3913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formatting → Insert Excel Table → Apply borders → Conditional formatting for Qualification &amp; Experience</a:t>
            </a:r>
            <a:endParaRPr lang="en-US" sz="8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916DDF6-C857-1378-357E-7054EA14B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657" y="60623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Faculty Sheet — Formulas &amp; Data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and validation rules applied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987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Formulas Used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371600"/>
            <a:ext cx="5029200" cy="530352"/>
          </a:xfrm>
          <a:prstGeom prst="rect">
            <a:avLst/>
          </a:prstGeom>
          <a:solidFill>
            <a:srgbClr val="EBF8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1408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=TRIM(B2)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6459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Removes leading/trailing spaces from Name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993392"/>
            <a:ext cx="50292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2029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=SUBSTITUTE(D2," ","")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226771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Strips spaces from Department codes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615184"/>
            <a:ext cx="5029200" cy="530352"/>
          </a:xfrm>
          <a:prstGeom prst="rect">
            <a:avLst/>
          </a:prstGeom>
          <a:solidFill>
            <a:srgbClr val="EBF8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" y="2651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=IF(ISBLANK(E3),"Unknown",E3)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8895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Replaces empty Qualification with 'Unknown'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3236976"/>
            <a:ext cx="50292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273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=IF(ISBLANK(F3),"Unknown",F3)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35112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Replaces blank Designation safely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858768"/>
            <a:ext cx="5029200" cy="530352"/>
          </a:xfrm>
          <a:prstGeom prst="rect">
            <a:avLst/>
          </a:prstGeom>
          <a:solidFill>
            <a:srgbClr val="EBF8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" y="3895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=VALUE(LEFT(G3,4))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" y="41330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Converts '2023-24' academic year to number 2023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77840" y="198802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Conditional Formatting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3346704"/>
            <a:ext cx="3291840" cy="685800"/>
          </a:xfrm>
          <a:prstGeom prst="rect">
            <a:avLst/>
          </a:prstGeom>
          <a:solidFill>
            <a:srgbClr val="D1FAE5"/>
          </a:solidFill>
          <a:ln w="1524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69280" y="33741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Normal Workload Status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0" y="364451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Green — Normal workload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77840" y="2487168"/>
            <a:ext cx="3291840" cy="685800"/>
          </a:xfrm>
          <a:prstGeom prst="rect">
            <a:avLst/>
          </a:prstGeom>
          <a:solidFill>
            <a:srgbClr val="FEF9C3"/>
          </a:solidFill>
          <a:ln w="1524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69280" y="25237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Any Unknown Info Field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282872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Yellow — Unknown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77840" y="4206240"/>
            <a:ext cx="3291840" cy="685800"/>
          </a:xfrm>
          <a:prstGeom prst="rect">
            <a:avLst/>
          </a:prstGeom>
          <a:solidFill>
            <a:srgbClr val="FEE2E2"/>
          </a:solidFill>
          <a:ln w="1524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669280" y="427112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High Workload Status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0" y="45494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Red — Overloaded Workload</a:t>
            </a:r>
            <a:endParaRPr lang="en-US" sz="8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D430A98-2668-94EB-F6FA-447D0C3B4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81343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Timetable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schedule data with formatting and consistency issues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87552"/>
          <a:ext cx="7991856" cy="23317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08/14/2023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Monday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Rao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08/14/2023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Ms. Sharma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08/14/2023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Rao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14-Aug-23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Mr. Kumar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56032" y="3547872"/>
            <a:ext cx="20116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56032" y="3547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⚠ Text dates (not numbers)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450592" y="3547872"/>
            <a:ext cx="201168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450592" y="3547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⚠ Duplicate entries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45152" y="3547872"/>
            <a:ext cx="20116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645152" y="3547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⚠ All-blank rows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839712" y="3547872"/>
            <a:ext cx="2011680" cy="41148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839712" y="3547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⚠ Inconsistent day casing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6032" y="41148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These issues were systematically resolved in the Clean Timetable sheet through the data cleaning process.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446C5A-8A6C-B342-2184-6FE2CEAB5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89535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Data Cleaning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cleaning steps applied to raw schedule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402336" cy="40233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10789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Clear Formatting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4447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cell colors, fonts and borders from the raw sheet before processing begins.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73168" y="1097280"/>
            <a:ext cx="402336" cy="40233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73168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10789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Remove Duplicates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14447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Remove Duplicates to eliminate repeated schedule rows on key identifiers.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402336" cy="40233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" y="23134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Remove Blank Rows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6791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any rows where at least one critical column (Date, Room, Subject, Faculty) is blank.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73168" y="2331720"/>
            <a:ext cx="402336" cy="40233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73168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23134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Normalize Day Column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26791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=SUBSTITUTE(Day," ","") removes all spaces; header is then filled right and pasted as Values-only to strip formulas safely.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345643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" y="35478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Convert Text Dates to Numbers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913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=VALUE(Date) converts text-format dates (e.g. '08/14/2023') to Excel serial numbers for sorting &amp; filtering.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45643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73168" y="3566160"/>
            <a:ext cx="402336" cy="40233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73168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35478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Autofit &amp; Table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3913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Autofit column widths and row heights → Insert Excel Table → convert to named table for use in pivot tables.</a:t>
            </a:r>
            <a:endParaRPr lang="en-US" sz="8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3F4167C-577B-96F6-8443-B6A1EEBB5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60623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Timetable Sheet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structured schedule data — the core data source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87552"/>
          <a:ext cx="7543800" cy="219456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Rao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Ms. Sharma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Mr. Kumar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Rao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Ms. Sharma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256032" y="3337560"/>
            <a:ext cx="416052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47472" y="3374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✓ Named Excel Table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7472" y="3593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Table6 — enables dynamic pivot table refresh &amp; XLOOKUP referencing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63440" y="3337560"/>
            <a:ext cx="416052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880" y="3374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✓ Room Type Formula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54880" y="3593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=IF(ISNUMBER(SEARCH("Lab",Room)),"Lab","Lecture") auto-fills via AutoFill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56032" y="3995928"/>
            <a:ext cx="416052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47472" y="4032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✓ Numeric Dates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47472" y="42519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All dates stored as serial numbers for accurate date-based sorting &amp; filtering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63440" y="3995928"/>
            <a:ext cx="416052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754880" y="4032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✓ Auto-expanding Table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54880" y="42519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VBA macro appends new rows dynamically; Table auto-expands with borders &amp; formulas</a:t>
            </a:r>
            <a:endParaRPr lang="en-US" sz="85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B4AAB334-5A86-6F4B-C652-F0F9DDC3382F}"/>
              </a:ext>
            </a:extLst>
          </p:cNvPr>
          <p:cNvSpPr/>
          <p:nvPr/>
        </p:nvSpPr>
        <p:spPr>
          <a:xfrm>
            <a:off x="7988556" y="1351593"/>
            <a:ext cx="972564" cy="165925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 Conflict Flag</a:t>
            </a:r>
          </a:p>
          <a:p>
            <a:r>
              <a:rPr lang="en-US" sz="950" b="1" dirty="0">
                <a:solidFill>
                  <a:srgbClr val="FF0000"/>
                </a:solidFill>
                <a:latin typeface="Calibri" panose="020F0502020204030204"/>
              </a:rPr>
              <a:t>Added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25949570-1003-582E-568C-0D2080A4D29F}"/>
              </a:ext>
            </a:extLst>
          </p:cNvPr>
          <p:cNvSpPr/>
          <p:nvPr/>
        </p:nvSpPr>
        <p:spPr>
          <a:xfrm>
            <a:off x="8064729" y="1652757"/>
            <a:ext cx="759231" cy="1233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6D04305-DDF0-174B-CFB7-BD72B4DE070C}"/>
              </a:ext>
            </a:extLst>
          </p:cNvPr>
          <p:cNvSpPr/>
          <p:nvPr/>
        </p:nvSpPr>
        <p:spPr>
          <a:xfrm>
            <a:off x="8063973" y="1752796"/>
            <a:ext cx="821730" cy="1056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Returns true if same faculty takes same classes at same time in same day. Cond. Formatted to Red.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E540BE-726C-31F7-DB8E-F76378EDA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654" y="88675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Utilization Sheet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occupancy, availability and usage patterns per room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Cleaning Steps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128016" cy="12801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Clear all cell formatting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128016" cy="12801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Adjust column widths and row heights (Autofit)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95144"/>
            <a:ext cx="128016" cy="12801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Insert Excel Table for structured referencing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Data Captured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128016" cy="12801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Room ID, Type, Capacity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85032"/>
            <a:ext cx="128016" cy="12801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Day-wise &amp; period-wise occupancy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123944"/>
            <a:ext cx="128016" cy="12801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Subject, Faculty assigned per slot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480560" y="987552"/>
          <a:ext cx="4407408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256032" y="4773168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64748B"/>
                </a:solidFill>
              </a:rPr>
              <a:t>Utilisation</a:t>
            </a:r>
            <a:r>
              <a:rPr lang="en-US" sz="900" i="1" dirty="0">
                <a:solidFill>
                  <a:srgbClr val="64748B"/>
                </a:solidFill>
              </a:rPr>
              <a:t> % = (Occupied Periods / Total Available Periods) × 100</a:t>
            </a:r>
            <a:endParaRPr lang="en-US" sz="9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1999751-AD71-6DDE-9B85-552970CE9EB6}"/>
              </a:ext>
            </a:extLst>
          </p:cNvPr>
          <p:cNvSpPr/>
          <p:nvPr/>
        </p:nvSpPr>
        <p:spPr>
          <a:xfrm>
            <a:off x="320040" y="4553712"/>
            <a:ext cx="128016" cy="128016"/>
          </a:xfrm>
          <a:prstGeom prst="ellipse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09117BC8-E1AC-F981-5A78-20ECD575B2FD}"/>
              </a:ext>
            </a:extLst>
          </p:cNvPr>
          <p:cNvSpPr/>
          <p:nvPr/>
        </p:nvSpPr>
        <p:spPr>
          <a:xfrm>
            <a:off x="530352" y="449773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Conditional formatting: </a:t>
            </a:r>
            <a:r>
              <a:rPr lang="en-US" sz="950" dirty="0">
                <a:solidFill>
                  <a:srgbClr val="FF0000"/>
                </a:solidFill>
              </a:rPr>
              <a:t>Red</a:t>
            </a:r>
            <a:r>
              <a:rPr lang="en-US" sz="950" dirty="0">
                <a:solidFill>
                  <a:srgbClr val="1E293B"/>
                </a:solidFill>
              </a:rPr>
              <a:t>(</a:t>
            </a:r>
            <a:r>
              <a:rPr lang="en-US" sz="950" dirty="0" err="1">
                <a:solidFill>
                  <a:srgbClr val="1E293B"/>
                </a:solidFill>
              </a:rPr>
              <a:t>Overutilised</a:t>
            </a:r>
            <a:r>
              <a:rPr lang="en-US" sz="950" dirty="0">
                <a:solidFill>
                  <a:srgbClr val="1E293B"/>
                </a:solidFill>
              </a:rPr>
              <a:t>), </a:t>
            </a:r>
            <a:r>
              <a:rPr lang="en-US" sz="950" dirty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en-US" sz="950" dirty="0">
                <a:solidFill>
                  <a:srgbClr val="1E293B"/>
                </a:solidFill>
              </a:rPr>
              <a:t>(Properly </a:t>
            </a:r>
            <a:r>
              <a:rPr lang="en-US" sz="950" dirty="0" err="1">
                <a:solidFill>
                  <a:srgbClr val="1E293B"/>
                </a:solidFill>
              </a:rPr>
              <a:t>utilised</a:t>
            </a:r>
            <a:r>
              <a:rPr lang="en-US" sz="950" dirty="0">
                <a:solidFill>
                  <a:srgbClr val="1E293B"/>
                </a:solidFill>
              </a:rPr>
              <a:t>)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5DAA06D-EBB3-23B2-5AA0-D69AFC8E8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745" y="92750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Entry Sheet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form for adding new schedule 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📋  Schedule Entry 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4447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Slot ID: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45920" y="146304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91640" y="1472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14-Aug-2023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17647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Day: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0" y="178308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91640" y="1792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Monday  ▼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2084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Time Slot: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45920" y="210312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673352" y="2215134"/>
            <a:ext cx="22860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1E293B"/>
                </a:solidFill>
              </a:rPr>
              <a:t> 08:00-09:00 ▼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24048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Department: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645920" y="242316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691640" y="2432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1E293B"/>
                </a:solidFill>
              </a:rPr>
              <a:t>CSE 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7472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Subject Code: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45920" y="274320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691640" y="27523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1E293B"/>
                </a:solidFill>
              </a:rPr>
              <a:t> CS101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" y="30449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Subject Name: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45920" y="306324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691640" y="30723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Algorithms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7472" y="33649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Faculty ID: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45920" y="338328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691640" y="3392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FAC120  ▼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7472" y="3685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Room ID: 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645920" y="370332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691640" y="3712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R110  ▼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7472" y="40050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Room Type: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0" y="402336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691640" y="4032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Seminar Hall  ▼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7472" y="4325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Batch: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45920" y="4343400"/>
            <a:ext cx="2377440" cy="21945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691640" y="43525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2024  ▼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77240" y="4462272"/>
            <a:ext cx="24688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77240" y="4462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▶  Insert Data (Macro)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07408" y="1005840"/>
            <a:ext cx="4480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407408" y="1005840"/>
            <a:ext cx="64008" cy="896112"/>
          </a:xfrm>
          <a:prstGeom prst="rect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572000" y="1069848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Data Validation Dropdowns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1344168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4748B"/>
                </a:solidFill>
              </a:rPr>
              <a:t> Slot </a:t>
            </a:r>
            <a:r>
              <a:rPr lang="en-US" sz="850" dirty="0" err="1">
                <a:solidFill>
                  <a:srgbClr val="64748B"/>
                </a:solidFill>
              </a:rPr>
              <a:t>ID,Time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Slot,Department,Subject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Code,Subject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Name,Faculty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ID,Room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ID,Room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Type,Batch,Semester,Section,Duration</a:t>
            </a:r>
            <a:r>
              <a:rPr lang="en-US" sz="850" dirty="0">
                <a:solidFill>
                  <a:srgbClr val="64748B"/>
                </a:solidFill>
              </a:rPr>
              <a:t> (</a:t>
            </a:r>
            <a:r>
              <a:rPr lang="en-US" sz="850" dirty="0" err="1">
                <a:solidFill>
                  <a:srgbClr val="64748B"/>
                </a:solidFill>
              </a:rPr>
              <a:t>hrs</a:t>
            </a:r>
            <a:r>
              <a:rPr lang="en-US" sz="850" dirty="0">
                <a:solidFill>
                  <a:srgbClr val="64748B"/>
                </a:solidFill>
              </a:rPr>
              <a:t>),Is Lab use dropdown lists via Data → Validation (List) to prevent invalid entries.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07408" y="2029968"/>
            <a:ext cx="4480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407408" y="2029968"/>
            <a:ext cx="64008" cy="896112"/>
          </a:xfrm>
          <a:prstGeom prst="rect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572000" y="2093976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XLOOKUP Integration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0" y="2368296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Room no. selection auto-fetches Room Type from Room </a:t>
            </a:r>
            <a:r>
              <a:rPr lang="en-US" sz="850" dirty="0" err="1">
                <a:solidFill>
                  <a:srgbClr val="64748B"/>
                </a:solidFill>
              </a:rPr>
              <a:t>Utilisation</a:t>
            </a:r>
            <a:r>
              <a:rPr lang="en-US" sz="850" dirty="0">
                <a:solidFill>
                  <a:srgbClr val="64748B"/>
                </a:solidFill>
              </a:rPr>
              <a:t> table using XLOOKUP for zero-error cross-referencing.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407408" y="3054096"/>
            <a:ext cx="4480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407408" y="3054096"/>
            <a:ext cx="64008" cy="896112"/>
          </a:xfrm>
          <a:prstGeom prst="rect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572000" y="3118104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Slot ID suggestion                                                                Subject Code initials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0" y="3392424"/>
            <a:ext cx="14407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Suggests user to insert ID more than the last value in Clean Timetable. Uses Lookup to find it.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407408" y="4078224"/>
            <a:ext cx="4480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407408" y="4078224"/>
            <a:ext cx="64008" cy="896112"/>
          </a:xfrm>
          <a:prstGeom prst="rect">
            <a:avLst/>
          </a:prstGeom>
          <a:solidFill>
            <a:srgbClr val="14AFAD"/>
          </a:solidFill>
          <a:ln w="12700">
            <a:solidFill>
              <a:srgbClr val="14A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572000" y="4142232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VBA Macro Button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0" y="4416552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Macro reads transposed data, appends a new row to Table6, fills Room Type formula, applies borders, clears the form — all in one click.</a:t>
            </a:r>
            <a:endParaRPr lang="en-US" sz="850" dirty="0"/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CDF496FF-BE5E-0E40-6533-DE5F002528D6}"/>
              </a:ext>
            </a:extLst>
          </p:cNvPr>
          <p:cNvSpPr/>
          <p:nvPr/>
        </p:nvSpPr>
        <p:spPr>
          <a:xfrm>
            <a:off x="7353622" y="3330821"/>
            <a:ext cx="14407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Suggests user the initials of the Code. Uses Left to find it. </a:t>
            </a:r>
            <a:endParaRPr lang="en-US" sz="85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54C0825-498D-C844-266D-C8AD0844D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09" y="63585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VBA Macro — Insert_data()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 Excel functions couldn't achieve this — and how VBA solved 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Why Advanced VBA Was Needed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" y="143560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0352" y="13898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Normal Excel functions cannot dynamically append new rows to a structured Table (ListObject) — they only read, not write.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" y="2130552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0352" y="20848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Transposing vertical form data (H6:H19) to horizontal table rows requires code-driven PasteSpecial with Transpose:=True.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282549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0352" y="2779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Automatically dragging a formula (AutoFill) into the new row for 'Room Type' is only achievable programmatically.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352044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0352" y="34747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Clearing the entry form, refreshing pivot tables, and returning focus — all in one atomic action — requires VBA orchestration.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Macro Step-by-Step Logic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FAD"/>
                </a:solidFill>
              </a:rPr>
              <a:t>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389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Performance flags: ScreenUpdating &amp; DisplayAlerts OFF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737360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634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FAD"/>
                </a:solidFill>
              </a:rPr>
              <a:t>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Copy H6:H19 → paste as values to temp range S5:S18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130552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FAD"/>
                </a:solidFill>
              </a:rPr>
              <a:t>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Reference Table6 (Clean Timetable) dynamically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523744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63440" y="2569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FAD"/>
                </a:solidFill>
              </a:rPr>
              <a:t>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569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Add a new ListRow to the end of Table6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916936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63440" y="2962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FAD"/>
                </a:solidFill>
              </a:rPr>
              <a:t>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9626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PasteSpecial (Transpose:=True) from S5:S18 into new row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310128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63440" y="3355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FAD"/>
                </a:solidFill>
              </a:rPr>
              <a:t>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355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AutoFill Room Type formula down into new row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703320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6344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FAD"/>
                </a:solidFill>
              </a:rPr>
              <a:t>⑦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Apply all 6 border types to the new row cells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4096512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63440" y="4142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FAD"/>
                </a:solidFill>
              </a:rPr>
              <a:t>⑧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4142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Clear S5:S18 temp range and H6:H19 entry form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4489704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63440" y="4535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FAD"/>
                </a:solidFill>
              </a:rPr>
              <a:t>⑨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4535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Refresh PivotTable2 &amp; PivotTable3 on Index sheet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56032" y="4681728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7377"/>
                </a:solidFill>
              </a:rPr>
              <a:t>💡 This macro was built with advanced VBA assistance — achieving functionality impossible via standard Excel formulas alone.</a:t>
            </a:r>
            <a:endParaRPr lang="en-US" sz="8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D708E80-E9C9-BAD5-0FD8-8C7183287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93155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Pivot Charts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Auto-refreshing analytics powered by Excel Tables as data sources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987552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Faculty Workload Pivot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Rows: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99032" y="138988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Faculty Name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6459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Columns: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99032" y="164592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Day / Period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1901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Values: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99032" y="190195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Count of Periods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3931920" cy="329184"/>
          </a:xfrm>
          <a:prstGeom prst="rect">
            <a:avLst/>
          </a:prstGeom>
          <a:solidFill>
            <a:srgbClr val="EBF8FF"/>
          </a:solidFill>
          <a:ln w="1016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0624" y="2194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369A1"/>
                </a:solidFill>
              </a:rPr>
              <a:t>💡 Instantly shows how many periods each faculty teaches per day/week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663440" y="987552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987552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73168" y="1033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Room Usage Pivot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Rows: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06440" y="138988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Room ID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3168" y="16459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Columns: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06440" y="164592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73168" y="1901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Values: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06440" y="190195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Count of Bookings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73168" y="2194560"/>
            <a:ext cx="3931920" cy="329184"/>
          </a:xfrm>
          <a:prstGeom prst="rect">
            <a:avLst/>
          </a:prstGeom>
          <a:solidFill>
            <a:srgbClr val="EBF8FF"/>
          </a:solidFill>
          <a:ln w="1016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28032" y="2194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369A1"/>
                </a:solidFill>
              </a:rPr>
              <a:t>💡 Reveals which rooms are over/under-utilized across the week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256032" y="2770632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56032" y="2770632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2816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Department Load Pivot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1729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Rows: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399032" y="317296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Department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3429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Columns: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399032" y="342900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Subject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3685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Values: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399032" y="368503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Count of Sessions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3977640"/>
            <a:ext cx="3931920" cy="329184"/>
          </a:xfrm>
          <a:prstGeom prst="rect">
            <a:avLst/>
          </a:prstGeom>
          <a:solidFill>
            <a:srgbClr val="EBF8FF"/>
          </a:solidFill>
          <a:ln w="1016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20624" y="3977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369A1"/>
                </a:solidFill>
              </a:rPr>
              <a:t>💡 Tracks subject distribution and teaching load across departments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663440" y="2770632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663440" y="2770632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73168" y="2816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Qualification Analysis Pivot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31729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Rows: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06440" y="317296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Qualification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73168" y="3429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Columns: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06440" y="342900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Designation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73168" y="3685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Values: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06440" y="368503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Count of Faculty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73168" y="3977640"/>
            <a:ext cx="3931920" cy="329184"/>
          </a:xfrm>
          <a:prstGeom prst="rect">
            <a:avLst/>
          </a:prstGeom>
          <a:solidFill>
            <a:srgbClr val="EBF8FF"/>
          </a:solidFill>
          <a:ln w="1016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828032" y="3977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369A1"/>
                </a:solidFill>
              </a:rPr>
              <a:t>💡 Breaks down faculty qualification mix by designation level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256032" y="4681728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7377"/>
                </a:solidFill>
              </a:rPr>
              <a:t>All pivot tables use Excel Tables as source → auto-expand when new data is added via the Timetable Entry form.</a:t>
            </a:r>
            <a:endParaRPr lang="en-US" sz="9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D6C8371-D32E-B24F-823D-4B090FFE1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108775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Interactive Filtering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visual filters connected to pivot tables and the dashboard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What Are Slicers?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1371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Slicers are visual filter buttons placed directly on the worksheet. Clicking a slicer item instantly filters all connected pivot tables and charts — no formulas needed.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212848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2212848"/>
            <a:ext cx="199339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" y="224028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" y="2578608"/>
            <a:ext cx="1847088" cy="173736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57860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Monday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9184" y="2779776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779776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Tuesday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9184" y="2980944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298094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Wednesday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9184" y="3182112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182112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Thursday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04872" y="2212848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404872" y="2212848"/>
            <a:ext cx="199339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478024" y="224028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Department 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78024" y="2578608"/>
            <a:ext cx="1847088" cy="173736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14600" y="257860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CS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78024" y="2779776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14600" y="2779776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IT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78024" y="2980944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14600" y="298094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ECE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78024" y="3182112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14600" y="3182112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EE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6032" y="3566160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56032" y="3566160"/>
            <a:ext cx="199339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9184" y="359359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Room 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" y="3931920"/>
            <a:ext cx="1847088" cy="173736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3931920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R101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9184" y="4133088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5760" y="413308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R102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9184" y="4334256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65760" y="4334256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Lab1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9184" y="4535424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65760" y="453542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Hall 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404872" y="3566160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2404872" y="3566160"/>
            <a:ext cx="199339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478024" y="359359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Faculty 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78024" y="3931920"/>
            <a:ext cx="1847088" cy="173736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514600" y="3931920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Dr. Rao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78024" y="4133088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514600" y="413308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Ms. Sharma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478024" y="4334256"/>
            <a:ext cx="1847088" cy="1737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514600" y="4334256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Mr. Kumar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Key Benefits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572000" y="1389888"/>
            <a:ext cx="4297680" cy="548640"/>
          </a:xfrm>
          <a:prstGeom prst="rect">
            <a:avLst/>
          </a:prstGeom>
          <a:solidFill>
            <a:srgbClr val="F0F9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663440" y="14081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074920" y="14264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Instant cross-filter — all charts update simultaneously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2048256"/>
            <a:ext cx="429768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663440" y="206654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7492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One slicer can be connected to multiple pivot tables at once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0" y="2706624"/>
            <a:ext cx="4297680" cy="548640"/>
          </a:xfrm>
          <a:prstGeom prst="rect">
            <a:avLst/>
          </a:prstGeom>
          <a:solidFill>
            <a:srgbClr val="F0F9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663440" y="272491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07492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Visually shows which filters are active vs available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0" y="3364992"/>
            <a:ext cx="429768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663440" y="33832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074920" y="3401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Eliminates manual filtering — ideal for non-technical users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72000" y="4023360"/>
            <a:ext cx="4297680" cy="548640"/>
          </a:xfrm>
          <a:prstGeom prst="rect">
            <a:avLst/>
          </a:prstGeom>
          <a:solidFill>
            <a:srgbClr val="F0F9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663440" y="404164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074920" y="40599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Resets with a single click on the Clear Filter button (✕)</a:t>
            </a:r>
            <a:endParaRPr lang="en-US" sz="95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EDAD908A-2289-CC94-009F-D5144436E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73739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KPIs, charts and slicers for administrators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987552"/>
            <a:ext cx="160020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1752" y="11155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</a:rPr>
              <a:t>48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01752" y="1536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Total Faculty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93392" y="987552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993392" y="987552"/>
            <a:ext cx="1600200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39112" y="11155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59B6"/>
                </a:solidFill>
              </a:rPr>
              <a:t>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39112" y="1536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Departments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30752" y="987552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730752" y="987552"/>
            <a:ext cx="1600200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76472" y="11155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B39"/>
                </a:solidFill>
              </a:rPr>
              <a:t>320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76472" y="1536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Weekly Periods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68112" y="987552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68112" y="987552"/>
            <a:ext cx="160020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13832" y="11155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</a:rPr>
              <a:t>18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13832" y="1536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Rooms Used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05472" y="987552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05472" y="987552"/>
            <a:ext cx="160020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51192" y="11155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</a:rPr>
              <a:t>91%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251192" y="1536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Max Room Util.</a:t>
            </a:r>
            <a:endParaRPr lang="en-US" sz="8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256032" y="2029968"/>
          <a:ext cx="4160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1"/>
          <p:cNvGraphicFramePr/>
          <p:nvPr>
            <p:extLst>
              <p:ext uri="{D42A27DB-BD31-4B8C-83A1-F6EECF244321}">
                <p14:modId xmlns:p14="http://schemas.microsoft.com/office/powerpoint/2010/main" val="2545408488"/>
              </p:ext>
            </p:extLst>
          </p:nvPr>
        </p:nvGraphicFramePr>
        <p:xfrm>
          <a:off x="4663440" y="2029968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Text 26"/>
          <p:cNvSpPr/>
          <p:nvPr/>
        </p:nvSpPr>
        <p:spPr>
          <a:xfrm>
            <a:off x="256032" y="489204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Dashboard slicers (Day, Department, Semester) filter all KPIs and charts simultaneously.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5D0504F-CA13-7533-BB2C-AB00ACAA6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745" y="81343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 &amp; XLOOKUP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cross-sheet referencing and auto-population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solidFill>
            <a:srgbClr val="E2E8F0"/>
          </a:solidFill>
          <a:ln w="15240">
            <a:solidFill>
              <a:srgbClr val="BBC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BCC"/>
                </a:solidFill>
              </a:rPr>
              <a:t>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005840"/>
            <a:ext cx="8631936" cy="868680"/>
          </a:xfrm>
          <a:prstGeom prst="rect">
            <a:avLst/>
          </a:prstGeom>
          <a:solidFill>
            <a:srgbClr val="EBF8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060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Auto-fetch Department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33502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=XLOOKUP(H7, FacultyTable[Name], FacultyTable[Department], "Not Found")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49040" y="1060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When a faculty name is selected in the entry form, XLOOKUP instantly retrieves their Department from the Clean Faculty table.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993392"/>
            <a:ext cx="8631936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2048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Auto-fetch last inserted Slot ID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32257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=LOOKUP(2,1/(Table6[Slot ID]&lt;&gt;""),Table6[Slot ID])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49040" y="2048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Automatically fetches the last inserted Slot ID in the Clean Timetable.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980944"/>
            <a:ext cx="8631936" cy="86868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3035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Room Capacity Lookup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331012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=XLOOKUP(RoomID, RoomTable[Room], RoomTable[Capacity], 0)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49040" y="3035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Fetches room capacity from the Room Utilization table for utilization % calculations in the dashboard.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968496"/>
            <a:ext cx="8631936" cy="868680"/>
          </a:xfrm>
          <a:prstGeom prst="rect">
            <a:avLst/>
          </a:prstGeom>
          <a:solidFill>
            <a:srgbClr val="FDF4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Room Type Auto-Classify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42976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=IF(ISNUMBER(SEARCH("Lab",[@Room])),"Lab","Lecture")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49040" y="4023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Classifies every room as Lab or Lecture type automatically based on the room name — filled by macro AutoFill for new rows.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6032" y="4956048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XLOOKUP advantages over VLOOKUP: searches left OR right, returns arrays, has built-in error handling, and works with Excel Tables dynamically.</a:t>
            </a: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749C368-C700-AAE2-5B61-C03BB9662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95059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01168" y="3291840"/>
            <a:ext cx="8942832" cy="18516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589520" y="201168"/>
            <a:ext cx="1325880" cy="658368"/>
          </a:xfrm>
          <a:prstGeom prst="rect">
            <a:avLst/>
          </a:prstGeom>
          <a:solidFill>
            <a:srgbClr val="17354D"/>
          </a:solidFill>
          <a:ln w="1905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8FAD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&amp; Workload Manager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C8D4"/>
                </a:solidFill>
              </a:rPr>
              <a:t>✓  8 sheets — raw, clean, entry, pivot, room, index, dashboard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C8D4"/>
                </a:solidFill>
              </a:rPr>
              <a:t>✓  TRIM, SUBSTITUTE, IF, ISBLANK, VALUE, XLOOKUP formulas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C8D4"/>
                </a:solidFill>
              </a:rPr>
              <a:t>✓  Conditional formatting for qualification &amp; experience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C8D4"/>
                </a:solidFill>
              </a:rPr>
              <a:t>✓  Advanced VBA macro for one-click data insertion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C8D4"/>
                </a:solidFill>
              </a:rPr>
              <a:t>✓  Auto-refreshing pivot tables, charts &amp; slicers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8F0"/>
                </a:solidFill>
              </a:rPr>
              <a:t>A complete, automated academic scheduling solution built entirely in Microsoft Excel.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77A1650-7503-9429-AD9A-F410194E4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45" y="182880"/>
            <a:ext cx="1962150" cy="7334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2138</Words>
  <Application>Microsoft Office PowerPoint</Application>
  <PresentationFormat>On-screen Show (16:9)</PresentationFormat>
  <Paragraphs>499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Timetable &amp; Workload Manager</dc:title>
  <dc:subject>PptxGenJS Presentation</dc:subject>
  <dc:creator>Excel Project</dc:creator>
  <cp:lastModifiedBy>Anudip</cp:lastModifiedBy>
  <cp:revision>12</cp:revision>
  <dcterms:created xsi:type="dcterms:W3CDTF">2026-05-27T05:07:45Z</dcterms:created>
  <dcterms:modified xsi:type="dcterms:W3CDTF">2026-05-27T06:28:39Z</dcterms:modified>
</cp:coreProperties>
</file>